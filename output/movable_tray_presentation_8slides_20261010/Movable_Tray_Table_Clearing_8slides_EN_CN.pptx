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目标是把桌上的碗逐只放进可以移动的薄托盘。机器人每次只做一轮：看清桌面、量出位置、确认上一只、选择下一只和空位、按原方法抓放、回到起点。下一轮重新拍照，因为托盘和占用情况可能已经变化。第一轮没有上一只需要核查；最后一只放完，也要观察确认，不能仅凭动作结束就宣布收拾完成。托盘可以在两轮之间移动，动作期间要保持不动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tools/test_live_place_pipeline.py: run_clear_table</a:t>
            </a:r>
          </a:p>
          <a:p>
            <a:pPr>
              <a:defRPr sz="1200">
                <a:latin typeface="Noto Sans CJK SC"/>
              </a:defRPr>
            </a:pPr>
            <a:r>
              <a:t>tools/place_rounds.py: ClearTableSession.observe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现在直接用 YOLO 识别托盘，不贴标记。分割模型像是在照片上描出托盘轮廓，再用同一帧深度和坐标转换，把像素换成实际的厘米位置。蓝色框是外轮廓，用实测外尺寸核对；绿色框是可放碗的内侧范围。公式表示托盘上的固定放置点随托盘转动和平移。原碗模型继续工作。特别要说明：现有模型没有托盘类别，需要另外提供训练好的托盘分割权重，当前图是原理示意，并非实际识别截图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src/yolo_vision/yolo_vision/tray_utils.py: detect_tray, slot_xy</a:t>
            </a:r>
          </a:p>
          <a:p>
            <a:pPr>
              <a:defRPr sz="1200">
                <a:latin typeface="Noto Sans CJK SC"/>
              </a:defRPr>
            </a:pPr>
            <a:r>
              <a:t>src/yolo_vision/config/clear_table_tray.json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左边解决“抓哪只”：整只碗的占地范围都在托盘内，才算已经收好；它只占位置，不再抓。托盘外、且处于允许收拾区域内的碗，才是候选。压着边界或看不清时先重新观察。右边解决“放哪里”：预先设置几个宽松位置，按当前这只碗的大小检查离边缘和其他碗是否够远。刚用过的位置会保留，不能因为下一张图漏检就当成空位。新任务再根据现场观察重建占用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src/yolo_vision/yolo_vision/tray_utils.py: classify_object, choose_slot</a:t>
            </a:r>
          </a:p>
          <a:p>
            <a:pPr>
              <a:defRPr sz="1200">
                <a:latin typeface="Noto Sans CJK SC"/>
              </a:defRPr>
            </a:pPr>
            <a:r>
              <a:t>tools/place_rounds.py: ClearTableSession.observe, known_inside, used_positions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碗怎么夹继续沿用原来的碗沿抓法，手指方向也不变。动作仍是七段：到碗上方、下降夹住、抬起、搬到放置准备点、下降释放、上退、回起点。图只表达先后顺序，不是真实机械臂轨迹。因为托盘很薄，沿用原桌面释放高度，主要更新左右、前后的位置。夹爪与碗中心的差别用固定水平偏移补偿；没有为每个抓取候选重算复杂放置姿态。原高度和姿态在任务开始时读取一次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docs/圆碗径向抓取修改_20260928.md</a:t>
            </a:r>
          </a:p>
          <a:p>
            <a:pPr>
              <a:defRPr sz="1200">
                <a:latin typeface="Noto Sans CJK SC"/>
              </a:defRPr>
            </a:pPr>
            <a:r>
              <a:t>tools/place_rounds.py: _release_coordinates, tray_release_config</a:t>
            </a:r>
          </a:p>
          <a:p>
            <a:pPr>
              <a:defRPr sz="1200">
                <a:latin typeface="Noto Sans CJK SC"/>
              </a:defRPr>
            </a:pPr>
            <a:r>
              <a:t>src/grasp_executor/grasp_executor/grasp.py</a:t>
            </a:r>
          </a:p>
          <a:p>
            <a:pPr>
              <a:defRPr sz="1200">
                <a:latin typeface="Noto Sans CJK SC"/>
              </a:defRPr>
            </a:pPr>
            <a:r>
              <a:t>src/grasp_executor/config/place_zones.json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“动作完成”和“确认放好”是两回事。动作完成后先保留选中的位置；返回起点拍新图后，再检查三点：源位置的碗消失了、选中的空位出现新碗、托盘里原有的碗仍能对应上。这样可以避免把托盘里本来就有的碗误当作刚放下的碗。确认成功才增加归位数量，并继续下一只。结果不明确就有限次重新观察，不直接继续搬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tools/place_rounds.py: ClearTableSession.observe, record_motion</a:t>
            </a:r>
          </a:p>
          <a:p>
            <a:pPr>
              <a:defRPr sz="1200">
                <a:latin typeface="Noto Sans CJK SC"/>
              </a:defRPr>
            </a:pPr>
            <a:r>
              <a:t>tools/test_clear_table_policy.py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这五张图来自保存的模拟运行数据，使用相同坐标范围。蓝色是待收碗，绿色是托盘内的碗，黄色圈是选中的位置。第一轮选 B，第二轮确认第一只并选 C，第三轮确认第二只并选 D。第四轮确认第三只并首次看到源区域为空，第五轮再次确认空了才结束。原来已有碗的 A 位一直没有重复使用。托盘在轮次间也有轻微移动。结果为三只归位、五次观察；这里的感知和机械臂反馈均为模拟。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debug_output/clear_table_validation/yolo_20261010/offline_demo/result.json</a:t>
            </a:r>
          </a:p>
          <a:p>
            <a:pPr>
              <a:defRPr sz="1200">
                <a:latin typeface="Noto Sans CJK SC"/>
              </a:defRPr>
            </a:pPr>
            <a:r>
              <a:t>debug_output/clear_table_validation/yolo_20261010/offline_demo/round_0001..0005/synthetic_observation.json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这次重点检查四件事。第一，文件存在还不够，模型必须真的有托盘类别和轮廓输出；缺少时直接报错。第二，不能把只看见的一部分当成整个托盘，要核对完整边界、尺寸、深度和视野。第三，矩形长轴可能被程序反过来表示，已补上相邻轮次的方向衔接，避免空位编号突然对调。第四，放置间隔继续按当前碗的实际大小检查。测试使用合成输入；实际大幅转动或替换托盘无法靠矩形轮廓可靠区分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debug_output/clear_table_validation/yolo_20261010/summary.json</a:t>
            </a:r>
          </a:p>
          <a:p>
            <a:pPr>
              <a:defRPr sz="1200">
                <a:latin typeface="Noto Sans CJK SC"/>
              </a:defRPr>
            </a:pPr>
            <a:r>
              <a:t>tools/test_clear_table_runner.py</a:t>
            </a:r>
          </a:p>
          <a:p>
            <a:pPr>
              <a:defRPr sz="1200">
                <a:latin typeface="Noto Sans CJK SC"/>
              </a:defRPr>
            </a:pPr>
            <a:r>
              <a:t>tools/test_clear_table_policy.py</a:t>
            </a:r>
          </a:p>
          <a:p>
            <a:pPr>
              <a:defRPr sz="1200">
                <a:latin typeface="Noto Sans CJK SC"/>
              </a:defRPr>
            </a:pPr>
            <a:r>
              <a:t>src/yolo_vision/test/test_tray_utils.py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latin typeface="Noto Sans CJK SC"/>
              </a:defRPr>
            </a:pPr>
            <a:r>
              <a:t>【中文讲解备注｜面向非专业听众】</a:t>
            </a:r>
          </a:p>
          <a:p>
            <a:pPr>
              <a:defRPr sz="1200">
                <a:latin typeface="Noto Sans CJK SC"/>
              </a:defRPr>
            </a:pPr>
            <a:r>
              <a:t>三个 ROS 软件包构建成功，881 项回归与 7 项独立 ROS 控制测试通过，合计 888 项。右边另列通信、启动、退出清理和 MoveIt 规划检查，不代表实机成功率。现在没有连接设备，也未提供训练好的托盘模型；下一步先准备模型、量好尺寸和偏移，做规划预览，再从一只碗开始实测。本版要求单个长短边可区分的矩形薄托盘，两轮间小幅移动，动作期间不动；未新增三维碰撞场景。</a:t>
            </a:r>
          </a:p>
          <a:p>
            <a:pPr>
              <a:defRPr sz="1200">
                <a:latin typeface="Noto Sans CJK SC"/>
              </a:defRPr>
            </a:pPr>
          </a:p>
          <a:p>
            <a:pPr>
              <a:defRPr sz="1200">
                <a:latin typeface="Noto Sans CJK SC"/>
              </a:defRPr>
            </a:pPr>
            <a:r>
              <a:t>【资料来源】</a:t>
            </a:r>
          </a:p>
          <a:p>
            <a:pPr>
              <a:defRPr sz="1200">
                <a:latin typeface="Noto Sans CJK SC"/>
              </a:defRPr>
            </a:pPr>
            <a:r>
              <a:t>debug_output/clear_table_validation/yolo_20261010/summary.json</a:t>
            </a:r>
          </a:p>
          <a:p>
            <a:pPr>
              <a:defRPr sz="1200">
                <a:latin typeface="Noto Sans CJK SC"/>
              </a:defRPr>
            </a:pPr>
            <a:r>
              <a:t>debug_output/clear_table_validation/yolo_20261010/validation.log</a:t>
            </a:r>
          </a:p>
          <a:p>
            <a:pPr>
              <a:defRPr sz="1200">
                <a:latin typeface="Noto Sans CJK SC"/>
              </a:defRPr>
            </a:pPr>
            <a:r>
              <a:t>New_run/README.md</a:t>
            </a:r>
          </a:p>
          <a:p>
            <a:pPr>
              <a:defRPr sz="1200">
                <a:latin typeface="Noto Sans CJK SC"/>
              </a:defRPr>
            </a:pPr>
            <a:r>
              <a:t>src/yolo_vision/config/clear_table_tray.json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01 / GOAL &amp; FEEDBACK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Movable-tray clearing: one bowl at a time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32826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11680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32304"/>
            <a:ext cx="29077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80360"/>
            <a:ext cx="2907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Acquire a fresh RGB-D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3984" y="1828800"/>
            <a:ext cx="32826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011680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432304"/>
            <a:ext cx="29077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880360"/>
            <a:ext cx="2907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Locate the tray and all bowls.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2826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32304"/>
            <a:ext cx="29077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2907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Check the previous placement.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986784"/>
            <a:ext cx="32826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69664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590288"/>
            <a:ext cx="29077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Choose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038344"/>
            <a:ext cx="2907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One source bowl + one free slot.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3984" y="3986784"/>
            <a:ext cx="32826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4169664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4590288"/>
            <a:ext cx="29077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Pick &amp; 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5038344"/>
            <a:ext cx="2907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Run the existing motion sequence.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86784"/>
            <a:ext cx="328269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4169664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4590288"/>
            <a:ext cx="290779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Return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" y="5038344"/>
            <a:ext cx="29077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Go back to the saved home pose.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86784" y="2587752"/>
            <a:ext cx="356616" cy="0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72400" y="2587752"/>
            <a:ext cx="356616" cy="0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866376" y="3456432"/>
            <a:ext cx="0" cy="402336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772400" y="4736592"/>
            <a:ext cx="356616" cy="0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986784" y="4736592"/>
            <a:ext cx="356616" cy="0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286000" y="3456432"/>
            <a:ext cx="0" cy="402336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67512" y="5779008"/>
            <a:ext cx="10881360" cy="438912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888736"/>
            <a:ext cx="1060704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F83"/>
                </a:solidFill>
                <a:latin typeface="Lato"/>
              </a:defRPr>
            </a:pPr>
            <a:r>
              <a:t>Fresh scene each round  •  Same grasp and motion  •  Move the tray only between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02 / PERCEPTION &amp; TRAY LOCALIZATION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YOLO locates the tray; depth gives its physical position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Dedicated tray segmentation weights required • outline and coordinate axes are schematic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01368"/>
            <a:ext cx="5669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51663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YOLO OUTER CONTOUR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2514600"/>
            <a:ext cx="4297680" cy="2514600"/>
          </a:xfrm>
          <a:prstGeom prst="roundRect">
            <a:avLst>
              <a:gd name="adj" fmla="val 12000"/>
            </a:avLst>
          </a:prstGeom>
          <a:solidFill>
            <a:srgbClr val="EAF1F9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09928" y="2761488"/>
            <a:ext cx="3803904" cy="2020824"/>
          </a:xfrm>
          <a:prstGeom prst="roundRect">
            <a:avLst>
              <a:gd name="adj" fmla="val 12000"/>
            </a:avLst>
          </a:prstGeom>
          <a:solidFill>
            <a:srgbClr val="E6F3F0"/>
          </a:solidFill>
          <a:ln w="1905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2916936"/>
            <a:ext cx="20116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USABLE INTERIOR</a:t>
            </a:r>
          </a:p>
        </p:txBody>
      </p:sp>
      <p:sp>
        <p:nvSpPr>
          <p:cNvPr id="12" name="Oval 11"/>
          <p:cNvSpPr/>
          <p:nvPr/>
        </p:nvSpPr>
        <p:spPr>
          <a:xfrm>
            <a:off x="1412748" y="2464308"/>
            <a:ext cx="100584" cy="100584"/>
          </a:xfrm>
          <a:prstGeom prst="ellipse">
            <a:avLst/>
          </a:prstGeom>
          <a:solidFill>
            <a:srgbClr val="3579C7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10428" y="2464308"/>
            <a:ext cx="100584" cy="100584"/>
          </a:xfrm>
          <a:prstGeom prst="ellipse">
            <a:avLst/>
          </a:prstGeom>
          <a:solidFill>
            <a:srgbClr val="3579C7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10428" y="4978908"/>
            <a:ext cx="100584" cy="100584"/>
          </a:xfrm>
          <a:prstGeom prst="ellipse">
            <a:avLst/>
          </a:prstGeom>
          <a:solidFill>
            <a:srgbClr val="3579C7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12748" y="4978908"/>
            <a:ext cx="100584" cy="100584"/>
          </a:xfrm>
          <a:prstGeom prst="ellipse">
            <a:avLst/>
          </a:prstGeom>
          <a:solidFill>
            <a:srgbClr val="3579C7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85032" y="3511296"/>
            <a:ext cx="146304" cy="146304"/>
          </a:xfrm>
          <a:prstGeom prst="ellipse">
            <a:avLst/>
          </a:prstGeom>
          <a:solidFill>
            <a:srgbClr val="008F83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758184" y="3584448"/>
            <a:ext cx="1133856" cy="0"/>
          </a:xfrm>
          <a:prstGeom prst="line">
            <a:avLst/>
          </a:prstGeom>
          <a:ln w="30480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758184" y="2999232"/>
            <a:ext cx="0" cy="585216"/>
          </a:xfrm>
          <a:prstGeom prst="line">
            <a:avLst/>
          </a:prstGeom>
          <a:ln w="30480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65192" y="3474720"/>
            <a:ext cx="32004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008F83"/>
                </a:solidFill>
                <a:latin typeface="Lato"/>
              </a:defRPr>
            </a:pPr>
            <a:r>
              <a:t>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898648"/>
            <a:ext cx="32004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008F83"/>
                </a:solidFill>
                <a:latin typeface="Lato"/>
              </a:defRPr>
            </a:pPr>
            <a:r>
              <a:t>v</a:t>
            </a:r>
          </a:p>
        </p:txBody>
      </p:sp>
      <p:sp>
        <p:nvSpPr>
          <p:cNvPr id="21" name="Oval 20"/>
          <p:cNvSpPr/>
          <p:nvPr/>
        </p:nvSpPr>
        <p:spPr>
          <a:xfrm>
            <a:off x="4645152" y="416052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4206240"/>
            <a:ext cx="310896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69826"/>
                </a:solidFill>
                <a:latin typeface="Lato"/>
              </a:defRPr>
            </a:pPr>
            <a: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9816" y="3822191"/>
            <a:ext cx="111556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627785"/>
                </a:solidFill>
                <a:latin typeface="Lato"/>
              </a:defRPr>
            </a:pPr>
            <a:r>
              <a:t>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13248"/>
            <a:ext cx="5175504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203949"/>
                </a:solidFill>
                <a:latin typeface="Lato"/>
              </a:defRPr>
            </a:pPr>
            <a:r>
              <a:t>Bowls: YOLO mask + depth → footprint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24728"/>
            <a:ext cx="5175504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0">
                <a:solidFill>
                  <a:srgbClr val="627785"/>
                </a:solidFill>
                <a:latin typeface="Lato"/>
              </a:defRPr>
            </a:pPr>
            <a:r>
              <a:t>Tray: YOLO mask + depth → center and heading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1911095"/>
            <a:ext cx="50292" cy="256032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2592" y="1856231"/>
            <a:ext cx="451713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Segment the tray directly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286000"/>
            <a:ext cx="45171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A separate YOLO model supplies the tray outline.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218688"/>
            <a:ext cx="50292" cy="256032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3163824"/>
            <a:ext cx="451713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Recover XY and heading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3593591"/>
            <a:ext cx="45171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Same-frame depth + camera-to-base transform.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535424"/>
            <a:ext cx="50292" cy="256032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4480560"/>
            <a:ext cx="4517136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Move the slots with the tray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910328"/>
            <a:ext cx="45171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p_slot = c_tray + R(θ) · [u, v]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03 / TARGET &amp; SLOT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Pick outside the tray. Place only in verified free space.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73936"/>
            <a:ext cx="535838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27064" y="1773936"/>
            <a:ext cx="5312664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47365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3579C7"/>
                </a:solidFill>
                <a:latin typeface="Lato"/>
              </a:defRPr>
            </a:pPr>
            <a:r>
              <a:t>1  SELECT THE BOWL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1975104"/>
            <a:ext cx="468172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2  SELECT THE SLOT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7208" y="2551176"/>
            <a:ext cx="2679192" cy="1636776"/>
          </a:xfrm>
          <a:prstGeom prst="roundRect">
            <a:avLst>
              <a:gd name="adj" fmla="val 12000"/>
            </a:avLst>
          </a:prstGeom>
          <a:solidFill>
            <a:srgbClr val="E6F3F0"/>
          </a:solidFill>
          <a:ln w="2159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2688336"/>
            <a:ext cx="91440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TRAY</a:t>
            </a:r>
          </a:p>
        </p:txBody>
      </p:sp>
      <p:sp>
        <p:nvSpPr>
          <p:cNvPr id="13" name="Oval 12"/>
          <p:cNvSpPr/>
          <p:nvPr/>
        </p:nvSpPr>
        <p:spPr>
          <a:xfrm>
            <a:off x="1216152" y="2999232"/>
            <a:ext cx="658368" cy="658368"/>
          </a:xfrm>
          <a:prstGeom prst="ellipse">
            <a:avLst/>
          </a:prstGeom>
          <a:solidFill>
            <a:srgbClr val="EAF1F9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3218688"/>
            <a:ext cx="65836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OUT</a:t>
            </a:r>
          </a:p>
        </p:txBody>
      </p:sp>
      <p:sp>
        <p:nvSpPr>
          <p:cNvPr id="15" name="Oval 14"/>
          <p:cNvSpPr/>
          <p:nvPr/>
        </p:nvSpPr>
        <p:spPr>
          <a:xfrm>
            <a:off x="3913631" y="2999232"/>
            <a:ext cx="658368" cy="658368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13631" y="3218688"/>
            <a:ext cx="65836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IN</a:t>
            </a:r>
          </a:p>
        </p:txBody>
      </p:sp>
      <p:sp>
        <p:nvSpPr>
          <p:cNvPr id="17" name="Oval 16"/>
          <p:cNvSpPr/>
          <p:nvPr/>
        </p:nvSpPr>
        <p:spPr>
          <a:xfrm>
            <a:off x="2496312" y="3456432"/>
            <a:ext cx="640080" cy="640080"/>
          </a:xfrm>
          <a:prstGeom prst="ellipse">
            <a:avLst/>
          </a:prstGeom>
          <a:solidFill>
            <a:srgbClr val="FBF1DD"/>
          </a:solidFill>
          <a:ln w="25400">
            <a:solidFill>
              <a:srgbClr val="D69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6312" y="3666744"/>
            <a:ext cx="6400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69826"/>
                </a:solidFill>
                <a:latin typeface="Lato"/>
              </a:defRPr>
            </a:pPr>
            <a: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517136"/>
            <a:ext cx="4773168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3579C7"/>
                </a:solidFill>
                <a:latin typeface="Lato"/>
              </a:defRPr>
            </a:pPr>
            <a:r>
              <a:t>Outside + in source region → pick candidate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5038344"/>
            <a:ext cx="477316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F83"/>
                </a:solidFill>
                <a:latin typeface="Lato"/>
              </a:defRPr>
            </a:pPr>
            <a:r>
              <a:t>Fully inside → occupancy only; never re-pick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5568696"/>
            <a:ext cx="477316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Boundary / unclear depth → observe again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551176"/>
            <a:ext cx="4590288" cy="1636776"/>
          </a:xfrm>
          <a:prstGeom prst="roundRect">
            <a:avLst>
              <a:gd name="adj" fmla="val 12000"/>
            </a:avLst>
          </a:prstGeom>
          <a:solidFill>
            <a:srgbClr val="E6F3F0"/>
          </a:solidFill>
          <a:ln w="2159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0" y="2926080"/>
            <a:ext cx="512064" cy="512064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072384"/>
            <a:ext cx="51206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3" y="3675887"/>
            <a:ext cx="950976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008F83"/>
                </a:solidFill>
                <a:latin typeface="Lato"/>
              </a:defRPr>
            </a:pPr>
            <a:r>
              <a:t>occupied</a:t>
            </a:r>
          </a:p>
        </p:txBody>
      </p:sp>
      <p:sp>
        <p:nvSpPr>
          <p:cNvPr id="26" name="Oval 25"/>
          <p:cNvSpPr/>
          <p:nvPr/>
        </p:nvSpPr>
        <p:spPr>
          <a:xfrm>
            <a:off x="8065008" y="2926080"/>
            <a:ext cx="512064" cy="512064"/>
          </a:xfrm>
          <a:prstGeom prst="ellipse">
            <a:avLst/>
          </a:prstGeom>
          <a:solidFill>
            <a:srgbClr val="FBF1DD"/>
          </a:solidFill>
          <a:ln w="25400">
            <a:solidFill>
              <a:srgbClr val="D69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3072384"/>
            <a:ext cx="51206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69826"/>
                </a:solidFill>
                <a:latin typeface="Lato"/>
              </a:defRPr>
            </a:pPr>
            <a: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3675887"/>
            <a:ext cx="950976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D69826"/>
                </a:solidFill>
                <a:latin typeface="Lato"/>
              </a:defRPr>
            </a:pPr>
            <a:r>
              <a:t>selected</a:t>
            </a:r>
          </a:p>
        </p:txBody>
      </p:sp>
      <p:sp>
        <p:nvSpPr>
          <p:cNvPr id="29" name="Oval 28"/>
          <p:cNvSpPr/>
          <p:nvPr/>
        </p:nvSpPr>
        <p:spPr>
          <a:xfrm>
            <a:off x="9180576" y="2926080"/>
            <a:ext cx="512064" cy="512064"/>
          </a:xfrm>
          <a:prstGeom prst="ellipse">
            <a:avLst/>
          </a:prstGeom>
          <a:solidFill>
            <a:srgbClr val="E9EEF2"/>
          </a:solidFill>
          <a:ln w="25400">
            <a:solidFill>
              <a:srgbClr val="627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0576" y="3072384"/>
            <a:ext cx="51206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627785"/>
                </a:solidFill>
                <a:latin typeface="Lato"/>
              </a:defRPr>
            </a:pPr>
            <a: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675887"/>
            <a:ext cx="950976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627785"/>
                </a:solidFill>
                <a:latin typeface="Lato"/>
              </a:defRPr>
            </a:pPr>
            <a:r>
              <a:t>reserved</a:t>
            </a:r>
          </a:p>
        </p:txBody>
      </p:sp>
      <p:sp>
        <p:nvSpPr>
          <p:cNvPr id="32" name="Oval 31"/>
          <p:cNvSpPr/>
          <p:nvPr/>
        </p:nvSpPr>
        <p:spPr>
          <a:xfrm>
            <a:off x="10296144" y="2926080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96144" y="3072384"/>
            <a:ext cx="51206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6688" y="3675887"/>
            <a:ext cx="950976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0">
                <a:solidFill>
                  <a:srgbClr val="3579C7"/>
                </a:solidFill>
                <a:latin typeface="Lato"/>
              </a:defRPr>
            </a:pPr>
            <a:r>
              <a:t>free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517136"/>
            <a:ext cx="4791456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203949"/>
                </a:solidFill>
                <a:latin typeface="Lato"/>
              </a:defRPr>
            </a:pPr>
            <a:r>
              <a:t>Edge clearance ≥ bowl radius + margin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5038344"/>
            <a:ext cx="479145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203949"/>
                </a:solidFill>
                <a:latin typeface="Lato"/>
              </a:defRPr>
            </a:pPr>
            <a:r>
              <a:t>Bowl spacing &gt; both radii + clearance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5568696"/>
            <a:ext cx="479145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Keep used slots reserved if detections drop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04 / REUSE GRASP &amp;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Keep the motion sequence; update the destination XY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70432" y="2743200"/>
            <a:ext cx="1636776" cy="1115568"/>
          </a:xfrm>
          <a:prstGeom prst="line">
            <a:avLst/>
          </a:prstGeom>
          <a:ln w="29209">
            <a:solidFill>
              <a:srgbClr val="3579C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807208" y="2743200"/>
            <a:ext cx="1636776" cy="1115568"/>
          </a:xfrm>
          <a:prstGeom prst="line">
            <a:avLst/>
          </a:prstGeom>
          <a:ln w="29209">
            <a:solidFill>
              <a:srgbClr val="3579C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43984" y="2743200"/>
            <a:ext cx="1636776" cy="0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743200"/>
            <a:ext cx="1636776" cy="1115568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717536" y="2743200"/>
            <a:ext cx="1636775" cy="1115568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54311" y="2743200"/>
            <a:ext cx="1636777" cy="0"/>
          </a:xfrm>
          <a:prstGeom prst="line">
            <a:avLst/>
          </a:prstGeom>
          <a:ln w="29209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50976" y="252374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633472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Approach</a:t>
            </a:r>
          </a:p>
        </p:txBody>
      </p:sp>
      <p:sp>
        <p:nvSpPr>
          <p:cNvPr id="16" name="Oval 15"/>
          <p:cNvSpPr/>
          <p:nvPr/>
        </p:nvSpPr>
        <p:spPr>
          <a:xfrm>
            <a:off x="2587752" y="3639311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87752" y="3749039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Descend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to grasp</a:t>
            </a:r>
          </a:p>
        </p:txBody>
      </p:sp>
      <p:sp>
        <p:nvSpPr>
          <p:cNvPr id="19" name="Oval 18"/>
          <p:cNvSpPr/>
          <p:nvPr/>
        </p:nvSpPr>
        <p:spPr>
          <a:xfrm>
            <a:off x="4224528" y="252374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8" y="2633472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6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Lift</a:t>
            </a:r>
          </a:p>
        </p:txBody>
      </p:sp>
      <p:sp>
        <p:nvSpPr>
          <p:cNvPr id="22" name="Oval 21"/>
          <p:cNvSpPr/>
          <p:nvPr/>
        </p:nvSpPr>
        <p:spPr>
          <a:xfrm>
            <a:off x="5861304" y="252374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61304" y="2633472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2392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Transfer to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pre-release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79" y="3639311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749039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Descend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and release</a:t>
            </a:r>
          </a:p>
        </p:txBody>
      </p:sp>
      <p:sp>
        <p:nvSpPr>
          <p:cNvPr id="28" name="Oval 27"/>
          <p:cNvSpPr/>
          <p:nvPr/>
        </p:nvSpPr>
        <p:spPr>
          <a:xfrm>
            <a:off x="9134855" y="252374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34855" y="2633472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5943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Retreat</a:t>
            </a:r>
          </a:p>
        </p:txBody>
      </p:sp>
      <p:sp>
        <p:nvSpPr>
          <p:cNvPr id="31" name="Oval 30"/>
          <p:cNvSpPr/>
          <p:nvPr/>
        </p:nvSpPr>
        <p:spPr>
          <a:xfrm>
            <a:off x="10771632" y="2523744"/>
            <a:ext cx="438912" cy="43891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71632" y="2633472"/>
            <a:ext cx="43891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9" y="4425696"/>
            <a:ext cx="1316736" cy="7040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Return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203949"/>
                </a:solidFill>
                <a:latin typeface="Lato"/>
              </a:defRPr>
            </a:pPr>
            <a:r>
              <a:t>home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1709928"/>
            <a:ext cx="1088136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3579C7"/>
                </a:solidFill>
                <a:latin typeface="Lato"/>
              </a:defRPr>
            </a:pPr>
            <a:r>
              <a:t>Same rim contacts and finger direction. Same seven motion segments.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2104" y="4197096"/>
            <a:ext cx="10488168" cy="0"/>
          </a:xfrm>
          <a:prstGeom prst="line">
            <a:avLst/>
          </a:prstGeom>
          <a:ln w="1651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76656" y="5522976"/>
            <a:ext cx="10863072" cy="621792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5687568"/>
            <a:ext cx="656539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tool release XY = selected slot XY + fixed offset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35824" y="5715000"/>
            <a:ext cx="356616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400" b="1">
                <a:solidFill>
                  <a:srgbClr val="008F83"/>
                </a:solidFill>
                <a:latin typeface="Lato"/>
              </a:defRPr>
            </a:pPr>
            <a:r>
              <a:t>Same Z • orientation • descent • home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05 / PLACEMENT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Confirm a changed scene before starting the next pick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984248"/>
            <a:ext cx="4837176" cy="23225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37728" y="2518440"/>
            <a:ext cx="2079985" cy="1486448"/>
          </a:xfrm>
          <a:prstGeom prst="roundRect">
            <a:avLst>
              <a:gd name="adj" fmla="val 12000"/>
            </a:avLst>
          </a:prstGeom>
          <a:solidFill>
            <a:srgbClr val="E6F3F0"/>
          </a:solidFill>
          <a:ln w="1905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6600" y="2591592"/>
            <a:ext cx="1842241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TRAY</a:t>
            </a:r>
          </a:p>
        </p:txBody>
      </p:sp>
      <p:sp>
        <p:nvSpPr>
          <p:cNvPr id="10" name="Oval 9"/>
          <p:cNvSpPr/>
          <p:nvPr/>
        </p:nvSpPr>
        <p:spPr>
          <a:xfrm>
            <a:off x="3409812" y="2887843"/>
            <a:ext cx="420624" cy="420624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9812" y="2988427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A</a:t>
            </a:r>
          </a:p>
        </p:txBody>
      </p:sp>
      <p:sp>
        <p:nvSpPr>
          <p:cNvPr id="12" name="Oval 11"/>
          <p:cNvSpPr/>
          <p:nvPr/>
        </p:nvSpPr>
        <p:spPr>
          <a:xfrm>
            <a:off x="4325005" y="2887843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69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005" y="2988427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69826"/>
                </a:solidFill>
                <a:latin typeface="Lato"/>
              </a:defRPr>
            </a:pPr>
            <a:r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3409812" y="3437829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9812" y="3538413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9E3E9"/>
                </a:solidFill>
                <a:latin typeface="Lato"/>
              </a:defRPr>
            </a:pPr>
            <a: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4325005" y="3437829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005" y="3538413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9E3E9"/>
                </a:solidFill>
                <a:latin typeface="Lato"/>
              </a:defRPr>
            </a:pPr>
            <a:r>
              <a:t>D</a:t>
            </a:r>
          </a:p>
        </p:txBody>
      </p:sp>
      <p:sp>
        <p:nvSpPr>
          <p:cNvPr id="18" name="Oval 17"/>
          <p:cNvSpPr/>
          <p:nvPr/>
        </p:nvSpPr>
        <p:spPr>
          <a:xfrm>
            <a:off x="1223787" y="2486573"/>
            <a:ext cx="435345" cy="43534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579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3787" y="2594518"/>
            <a:ext cx="435345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3579C7"/>
                </a:solidFill>
                <a:latin typeface="Lato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7104" y="1984248"/>
            <a:ext cx="4837176" cy="23225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7320" y="2518440"/>
            <a:ext cx="2079985" cy="1486448"/>
          </a:xfrm>
          <a:prstGeom prst="roundRect">
            <a:avLst>
              <a:gd name="adj" fmla="val 12000"/>
            </a:avLst>
          </a:prstGeom>
          <a:solidFill>
            <a:srgbClr val="E6F3F0"/>
          </a:solidFill>
          <a:ln w="1905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6192" y="2591592"/>
            <a:ext cx="1842241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TRAY</a:t>
            </a:r>
          </a:p>
        </p:txBody>
      </p:sp>
      <p:sp>
        <p:nvSpPr>
          <p:cNvPr id="23" name="Oval 22"/>
          <p:cNvSpPr/>
          <p:nvPr/>
        </p:nvSpPr>
        <p:spPr>
          <a:xfrm>
            <a:off x="9289404" y="2887843"/>
            <a:ext cx="420624" cy="420624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9404" y="2988427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10204597" y="2887843"/>
            <a:ext cx="420624" cy="420624"/>
          </a:xfrm>
          <a:prstGeom prst="ellipse">
            <a:avLst/>
          </a:prstGeom>
          <a:solidFill>
            <a:srgbClr val="E6F3F0"/>
          </a:solidFill>
          <a:ln w="25400">
            <a:solidFill>
              <a:srgbClr val="00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04597" y="2988427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B</a:t>
            </a:r>
          </a:p>
        </p:txBody>
      </p:sp>
      <p:sp>
        <p:nvSpPr>
          <p:cNvPr id="27" name="Oval 26"/>
          <p:cNvSpPr/>
          <p:nvPr/>
        </p:nvSpPr>
        <p:spPr>
          <a:xfrm>
            <a:off x="9289404" y="3437829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9404" y="3538413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9E3E9"/>
                </a:solidFill>
                <a:latin typeface="Lato"/>
              </a:defRPr>
            </a:pPr>
            <a:r>
              <a:t>C</a:t>
            </a:r>
          </a:p>
        </p:txBody>
      </p:sp>
      <p:sp>
        <p:nvSpPr>
          <p:cNvPr id="29" name="Oval 28"/>
          <p:cNvSpPr/>
          <p:nvPr/>
        </p:nvSpPr>
        <p:spPr>
          <a:xfrm>
            <a:off x="10204597" y="3437829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04597" y="3538413"/>
            <a:ext cx="42062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D9E3E9"/>
                </a:solidFill>
                <a:latin typeface="Lato"/>
              </a:defRPr>
            </a:pPr>
            <a: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1664208"/>
            <a:ext cx="45720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627785"/>
                </a:solidFill>
                <a:latin typeface="Lato"/>
              </a:defRPr>
            </a:pPr>
            <a:r>
              <a:t>BEFORE THE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1664208"/>
            <a:ext cx="466344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F83"/>
                </a:solidFill>
                <a:latin typeface="Lato"/>
              </a:defRPr>
            </a:pPr>
            <a:r>
              <a:t>FRESH OBSERVATION AFTER RETURN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78424" y="3108960"/>
            <a:ext cx="649224" cy="0"/>
          </a:xfrm>
          <a:prstGeom prst="line">
            <a:avLst/>
          </a:prstGeom>
          <a:ln w="30480">
            <a:solidFill>
              <a:srgbClr val="008F8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58952" y="4700016"/>
            <a:ext cx="365760" cy="292608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3" y="4750307"/>
            <a:ext cx="219456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202936"/>
            <a:ext cx="3419856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Source bowl is gone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3712" y="4700016"/>
            <a:ext cx="365760" cy="292608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6864" y="4750307"/>
            <a:ext cx="219456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5202936"/>
            <a:ext cx="3419856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New occupancy at the chosen slot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48472" y="4700016"/>
            <a:ext cx="365760" cy="292608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21624" y="4750307"/>
            <a:ext cx="219456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2" y="5202936"/>
            <a:ext cx="3419856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203949"/>
                </a:solidFill>
                <a:latin typeface="Lato"/>
              </a:defRPr>
            </a:pPr>
            <a:r>
              <a:t>Previous tray occupancy remains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6071616"/>
            <a:ext cx="1088136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627785"/>
                </a:solidFill>
                <a:latin typeface="Lato"/>
              </a:defRPr>
            </a:pPr>
            <a:r>
              <a:t>An action acknowledgment reserves the slot. A fresh observation confirms placement.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06 / RECORDED SOFTWARE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Three placements, five observations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Plots reconstructed from saved synthetic observations • all sensing and actuator feedback are simulated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99616"/>
            <a:ext cx="1088136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0">
                <a:solidFill>
                  <a:srgbClr val="627785"/>
                </a:solidFill>
                <a:latin typeface="Lato"/>
              </a:defRPr>
            </a:pPr>
            <a:r>
              <a:t>Blue: pending bowls   •   Teal: inside tray   •   Amber ring: selected destination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37943"/>
            <a:ext cx="2176272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002536"/>
            <a:ext cx="19202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OBSERVATION 1</a:t>
            </a:r>
          </a:p>
        </p:txBody>
      </p:sp>
      <p:pic>
        <p:nvPicPr>
          <p:cNvPr id="10" name="Picture 9" descr="observa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35" y="2322576"/>
            <a:ext cx="1565257" cy="19933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" y="4544568"/>
            <a:ext cx="1920240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Pick →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1837943"/>
            <a:ext cx="2176272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2002536"/>
            <a:ext cx="19202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OBSERVATION 2</a:t>
            </a:r>
          </a:p>
        </p:txBody>
      </p:sp>
      <p:pic>
        <p:nvPicPr>
          <p:cNvPr id="14" name="Picture 13" descr="observatio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155" y="2322576"/>
            <a:ext cx="1565257" cy="19933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26664" y="4544568"/>
            <a:ext cx="1920240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Confirm 1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Pick → 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0368" y="1837943"/>
            <a:ext cx="2176272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3" y="2002536"/>
            <a:ext cx="19202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OBSERVATION 3</a:t>
            </a:r>
          </a:p>
        </p:txBody>
      </p:sp>
      <p:pic>
        <p:nvPicPr>
          <p:cNvPr id="18" name="Picture 17" descr="observatio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875" y="2322576"/>
            <a:ext cx="1565257" cy="19933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58383" y="4544568"/>
            <a:ext cx="1920240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Confirm 2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Pick →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62088" y="1837943"/>
            <a:ext cx="2176272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0104" y="2002536"/>
            <a:ext cx="19202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OBSERVATION 4</a:t>
            </a:r>
          </a:p>
        </p:txBody>
      </p:sp>
      <p:pic>
        <p:nvPicPr>
          <p:cNvPr id="22" name="Picture 21" descr="observation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595" y="2322576"/>
            <a:ext cx="1565257" cy="19933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90104" y="4544568"/>
            <a:ext cx="1920240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Confirm 3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Check empty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93807" y="1837943"/>
            <a:ext cx="2176272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21824" y="2002536"/>
            <a:ext cx="19202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008F83"/>
                </a:solidFill>
                <a:latin typeface="Lato"/>
              </a:defRPr>
            </a:pPr>
            <a:r>
              <a:t>OBSERVATION 5</a:t>
            </a:r>
          </a:p>
        </p:txBody>
      </p:sp>
      <p:pic>
        <p:nvPicPr>
          <p:cNvPr id="26" name="Picture 25" descr="observation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9315" y="2322576"/>
            <a:ext cx="1565257" cy="199339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021824" y="4544568"/>
            <a:ext cx="1920240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Confirm empty</a:t>
            </a:r>
          </a:p>
          <a:p>
            <a:pPr algn="ctr"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203949"/>
                </a:solidFill>
                <a:latin typeface="Lato"/>
              </a:defRPr>
            </a:pPr>
            <a:r>
              <a:t>Complete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577840"/>
            <a:ext cx="10972800" cy="566928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5733288"/>
            <a:ext cx="1049731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F83"/>
                </a:solidFill>
                <a:latin typeface="Lato"/>
              </a:defRPr>
            </a:pPr>
            <a:r>
              <a:t>3 bowls confirmed   /   Slots B, C, D used   /   Existing slot A preserved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07 / DEBUGGING &amp; REGRESSION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Four checks protect detection and placement decisions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Movable-Tray Table Clearing  |  Methods &amp;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" y="1801368"/>
            <a:ext cx="5449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" y="1801368"/>
            <a:ext cx="59436" cy="1920240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65960"/>
            <a:ext cx="3657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38528"/>
            <a:ext cx="448056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Model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87168"/>
            <a:ext cx="50109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A bowl model has no trained tray 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39"/>
            <a:ext cx="50109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F83"/>
                </a:solidFill>
                <a:latin typeface="Lato"/>
              </a:defRPr>
            </a:pPr>
            <a:r>
              <a:t>Check local weights, segmentation output and tray class.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7375" y="1801368"/>
            <a:ext cx="5449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7375" y="1801368"/>
            <a:ext cx="59436" cy="1920240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5" y="1965960"/>
            <a:ext cx="3657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5" y="1938528"/>
            <a:ext cx="448056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Complete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3" y="2487168"/>
            <a:ext cx="50109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A partial outline can suggest a misleading free area.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3" y="3063239"/>
            <a:ext cx="50109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F83"/>
                </a:solidFill>
                <a:latin typeface="Lato"/>
              </a:defRPr>
            </a:pPr>
            <a:r>
              <a:t>Check depth, measured size, corners and the full 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" y="3977639"/>
            <a:ext cx="5449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" y="3977639"/>
            <a:ext cx="59436" cy="1920240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142231"/>
            <a:ext cx="3657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4114800"/>
            <a:ext cx="448056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Stable slot direction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50109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A rectangular mask can flip its reported axis by 180°.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39512"/>
            <a:ext cx="50109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F83"/>
                </a:solidFill>
                <a:latin typeface="Lato"/>
              </a:defRPr>
            </a:pPr>
            <a:r>
              <a:t>Keep the closest direction; test occupied-slot continuity.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37375" y="3977639"/>
            <a:ext cx="544982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37375" y="3977639"/>
            <a:ext cx="59436" cy="1920240"/>
          </a:xfrm>
          <a:prstGeom prst="rect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0255" y="4142231"/>
            <a:ext cx="3657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300" b="1">
                <a:solidFill>
                  <a:srgbClr val="008F83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5" y="4114800"/>
            <a:ext cx="448056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203949"/>
                </a:solidFill>
                <a:latin typeface="Lato"/>
              </a:defRPr>
            </a:pPr>
            <a:r>
              <a:t>Bowl clearance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3" y="4663440"/>
            <a:ext cx="5010912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A large bowl needs more space than a small 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8543" y="5239512"/>
            <a:ext cx="50109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F83"/>
                </a:solidFill>
                <a:latin typeface="Lato"/>
              </a:defRPr>
            </a:pPr>
            <a:r>
              <a:t>Use the actual footprint; retain previously occupied slots.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1207" y="274320"/>
            <a:ext cx="10789920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F83"/>
                </a:solidFill>
                <a:latin typeface="Lato"/>
              </a:defRPr>
            </a:pPr>
            <a:r>
              <a:t>08 / VALIDATION &amp;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58952"/>
            <a:ext cx="11109960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1">
                <a:solidFill>
                  <a:srgbClr val="203949"/>
                </a:solidFill>
                <a:latin typeface="Lato"/>
              </a:defRPr>
            </a:pPr>
            <a:r>
              <a:t>Software checks passed; hardware trials are next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21207" y="6464808"/>
            <a:ext cx="11155681" cy="0"/>
          </a:xfrm>
          <a:prstGeom prst="line">
            <a:avLst/>
          </a:prstGeom>
          <a:ln w="1016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21207" y="6556248"/>
            <a:ext cx="10332720" cy="1737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850" b="0">
                <a:solidFill>
                  <a:srgbClr val="627785"/>
                </a:solidFill>
                <a:latin typeface="Lato"/>
              </a:defRPr>
            </a:pPr>
            <a:r>
              <a:t>Recorded validation: 10 OCT 2026 • no physical camera or robot connected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521207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100" b="0">
                <a:solidFill>
                  <a:srgbClr val="627785"/>
                </a:solidFill>
                <a:latin typeface="Lato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810512"/>
            <a:ext cx="3136392" cy="3017520"/>
          </a:xfrm>
          <a:prstGeom prst="rect">
            <a:avLst/>
          </a:prstGeom>
          <a:solidFill>
            <a:srgbClr val="11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57400"/>
            <a:ext cx="2587752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6600" b="1">
                <a:solidFill>
                  <a:srgbClr val="FFFFFF"/>
                </a:solidFill>
                <a:latin typeface="Lato"/>
              </a:defRPr>
            </a:pPr>
            <a:r>
              <a:t>888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145536"/>
            <a:ext cx="2642616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100" b="1">
                <a:solidFill>
                  <a:srgbClr val="FFFFFF"/>
                </a:solidFill>
                <a:latin typeface="Lato"/>
              </a:defRPr>
            </a:pPr>
            <a:r>
              <a:t>automated tests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014215"/>
            <a:ext cx="265176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B6CFDA"/>
                </a:solidFill>
                <a:latin typeface="Lato"/>
              </a:defRPr>
            </a:pPr>
            <a:r>
              <a:t>881 regression + 7 ROS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462272"/>
            <a:ext cx="26517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60CEC3"/>
                </a:solidFill>
                <a:latin typeface="Lato"/>
              </a:defRPr>
            </a:pPr>
            <a:r>
              <a:t>3 packages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2816" y="1847088"/>
            <a:ext cx="768096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500" b="1">
                <a:solidFill>
                  <a:srgbClr val="008F83"/>
                </a:solidFill>
                <a:latin typeface="Lato"/>
              </a:defRPr>
            </a:pPr>
            <a: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920240"/>
            <a:ext cx="26060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03949"/>
                </a:solidFill>
                <a:latin typeface="Lato"/>
              </a:defRPr>
            </a:pPr>
            <a:r>
              <a:t>ROS 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2596896"/>
            <a:ext cx="3337560" cy="576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Fresh messages and task identities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1847088"/>
            <a:ext cx="768096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500" b="1">
                <a:solidFill>
                  <a:srgbClr val="008F83"/>
                </a:solidFill>
                <a:latin typeface="Lato"/>
              </a:defRPr>
            </a:pPr>
            <a: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1920240"/>
            <a:ext cx="26060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03949"/>
                </a:solidFill>
                <a:latin typeface="Lato"/>
              </a:defRPr>
            </a:pPr>
            <a:r>
              <a:t>Launch contracts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2596896"/>
            <a:ext cx="3337560" cy="576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Topics, namespaces and parameters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2816" y="3355848"/>
            <a:ext cx="768096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500" b="1">
                <a:solidFill>
                  <a:srgbClr val="008F83"/>
                </a:solidFill>
                <a:latin typeface="Lato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429000"/>
            <a:ext cx="26060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03949"/>
                </a:solidFill>
                <a:latin typeface="Lato"/>
              </a:defRPr>
            </a:pPr>
            <a:r>
              <a:t>Exit cleanup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4105656"/>
            <a:ext cx="3337560" cy="576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No owned workers left running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3355848"/>
            <a:ext cx="768096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500" b="1">
                <a:solidFill>
                  <a:srgbClr val="008F83"/>
                </a:solidFill>
                <a:latin typeface="Lato"/>
              </a:defRPr>
            </a:pPr>
            <a: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3429000"/>
            <a:ext cx="26060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203949"/>
                </a:solidFill>
                <a:latin typeface="Lato"/>
              </a:defRPr>
            </a:pPr>
            <a:r>
              <a:t>MoveIt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4105656"/>
            <a:ext cx="3337560" cy="576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627785"/>
                </a:solidFill>
                <a:latin typeface="Lato"/>
              </a:defRPr>
            </a:pPr>
            <a:r>
              <a:t>Planning and simulated motion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102352"/>
            <a:ext cx="10863072" cy="1078992"/>
          </a:xfrm>
          <a:prstGeom prst="rect">
            <a:avLst/>
          </a:prstGeom>
          <a:solidFill>
            <a:srgbClr val="E6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5294376"/>
            <a:ext cx="31546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F83"/>
                </a:solidFill>
                <a:latin typeface="Lato"/>
              </a:defRPr>
            </a:pPr>
            <a:r>
              <a:t>Before real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51376" y="5303520"/>
            <a:ext cx="713232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203949"/>
                </a:solidFill>
                <a:latin typeface="Lato"/>
              </a:defRPr>
            </a:pPr>
            <a:r>
              <a:t>Tray model → calibrate → preview → test one bowl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824728"/>
            <a:ext cx="1039672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627785"/>
                </a:solidFill>
                <a:latin typeface="Lato"/>
              </a:defRPr>
            </a:pPr>
            <a:r>
              <a:t>Thin, flat tray • stationary during motion • no new 3D collision scene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 Movable-Tray Table Clearing — 8-Slide Methods Brief</dc:title>
  <dc:subject>English slides with accessible Chinese speaker notes</dc:subject>
  <dc:creator>Robot Grasp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