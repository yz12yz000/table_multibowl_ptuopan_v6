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这次介绍的是让现有机器人从“抓一只碗、放到固定位置”，扩展到“把桌上的碗逐只放进一个可以移动的托盘”。托盘直接用 YOLO 分割识别，抓法和放法继续沿用。可以把机器人理解成一个收桌子的人：先看、拿一只、放好、再确认。</a:t>
            </a:r>
          </a:p>
          <a:p>
            <a:pPr>
              <a:defRPr sz="1200">
                <a:latin typeface="Noto Sans CJK SC"/>
              </a:defRPr>
            </a:pPr>
            <a:r>
              <a:t>右边是项目以前的现场照片，只用来说明机器人与桌面环境；本次新增托盘功能的证据来自软件与模拟测试，不把这张照片当成新功能的实机验收。原来的碗模型没有托盘类别，在线识别还需要准备专门的托盘分割权重，项目没有附带该权重。接下来会讲方法、关键判断、检查结果和仍需现场验证的内容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implement_new2.md</a:t>
            </a:r>
          </a:p>
          <a:p>
            <a:pPr>
              <a:defRPr sz="1200">
                <a:latin typeface="Noto Sans CJK SC"/>
              </a:defRPr>
            </a:pPr>
            <a:r>
              <a:t>New_run/README.md</a:t>
            </a:r>
          </a:p>
          <a:p>
            <a:pPr>
              <a:defRPr sz="1200">
                <a:latin typeface="Noto Sans CJK SC"/>
              </a:defRPr>
            </a:pPr>
            <a:r>
              <a:t>output/bowl_research_presentation_20261002/asset_sources.json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左图有三只碗还在桌上，托盘里本来就有一只；右图表示希望得到的整理结果。这是说明原理的俯视示意图，不是相机截图。</a:t>
            </a:r>
          </a:p>
          <a:p>
            <a:pPr>
              <a:defRPr sz="1200">
                <a:latin typeface="Noto Sans CJK SC"/>
              </a:defRPr>
            </a:pPr>
            <a:r>
              <a:t>整个问题可以拆成三个很直观的问题：托盘现在在哪里、还有哪只碗没有收好、托盘里哪里还能放。只要这三个判断做好，就能继续使用原来的机械臂抓放程序。托盘里本来就有的碗以及新放进去的碗，都只算作“占用了位置”，不再作为抓取目标。托盘可以在开始任务前或两轮之间换位置，机器人会重新观察；一轮动作进行时，托盘要保持静止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implement_new2.md §1, §4, §5, §10</a:t>
            </a:r>
          </a:p>
          <a:p>
            <a:pPr>
              <a:defRPr sz="1200">
                <a:latin typeface="Noto Sans CJK SC"/>
              </a:defRPr>
            </a:pPr>
            <a:r>
              <a:t>tools/place_rounds.py: ClearTableSession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这张图是整个程序的工作循环。先用新图像看桌面，再计算托盘和碗的位置；如果上一轮刚放过一只碗，就先确认它真的进了托盘。确认后，再选下一只和一个空位置，按原来的方法抓放，最后返回原起点。</a:t>
            </a:r>
          </a:p>
          <a:p>
            <a:pPr>
              <a:defRPr sz="1200">
                <a:latin typeface="Noto Sans CJK SC"/>
              </a:defRPr>
            </a:pPr>
            <a:r>
              <a:t>“新图像”很重要：上一轮动作结束后，桌面已经变了，旧图像里的空位可能已经放了碗，旧目标的位置也可能不适用了。第一轮没有上一只碗，不需要这一步归位核查。最后一只放完也不能直接结束，还要重新看；默认还会做连续的空源区确认。核查与下一轮选择共用同一次观察，不额外设计一套机械臂检查动作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tools/test_live_place_pipeline.py: run_clear_table</a:t>
            </a:r>
          </a:p>
          <a:p>
            <a:pPr>
              <a:defRPr sz="1200">
                <a:latin typeface="Noto Sans CJK SC"/>
              </a:defRPr>
            </a:pPr>
            <a:r>
              <a:t>tools/place_rounds.py: ClearTableSession.observe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可以把程序想成四个人分工：第一个负责看图，第二个负责找碗边上哪里能夹，第三个负责决定夹哪只、放哪里，第四个负责规划和执行动作。</a:t>
            </a:r>
          </a:p>
          <a:p>
            <a:pPr>
              <a:defRPr sz="1200">
                <a:latin typeface="Noto Sans CJK SC"/>
              </a:defRPr>
            </a:pPr>
            <a:r>
              <a:t>视觉节点用同一张彩色图分别识别碗和托盘，碗继续使用原模型，托盘使用另一个可配置的分割模型。托盘掩膜只用于确定收纳区，不混进碗的抓取点云。定位器仍然给全部碗产生抓取候选，运行器收到完整信息后再过滤托盘内的碗。托盘位置和碗占用范围放进原有状态消息，不新增场景通信系统。时间戳好比照片的拍摄编号，任务编号好比订单号，可以防止旧照片或旧任务的数据串进当前动作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implement_new2.md §7</a:t>
            </a:r>
          </a:p>
          <a:p>
            <a:pPr>
              <a:defRPr sz="1200">
                <a:latin typeface="Noto Sans CJK SC"/>
              </a:defRPr>
            </a:pPr>
            <a:r>
              <a:t>src/yolo_vision/yolo_vision/main.py</a:t>
            </a:r>
          </a:p>
          <a:p>
            <a:pPr>
              <a:defRPr sz="1200">
                <a:latin typeface="Noto Sans CJK SC"/>
              </a:defRPr>
            </a:pPr>
            <a:r>
              <a:t>tools/test_live_place_pipeline.py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普通彩色照片能告诉我们“哪些像素属于碗”，但像素本身不能直接告诉机械臂要移动多少厘米。深度图补上每个位置离相机多远的信息，两者对齐以后，就能得到碗表面的三维位置。</a:t>
            </a:r>
          </a:p>
          <a:p>
            <a:pPr>
              <a:defRPr sz="1200">
                <a:latin typeface="Noto Sans CJK SC"/>
              </a:defRPr>
            </a:pPr>
            <a:r>
              <a:t>程序把这些位置转换到机器人使用的统一坐标，再估计碗在桌面上的中心和保守占用范围。可以想象成给每只碗在桌面上画一个稍大一点的圆圈。这个圆圈用于判断碗是否完全在托盘内、是否会挤到别的碗。夹爪接触的某个碗沿点不等于碗中心，不能用它代替整个碗的位置。右侧三个步骤强调同一轮图像和深度必须对应；深度不足或范围不可信时会保留未确定状态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src/yolo_vision/yolo_vision/main.py</a:t>
            </a:r>
          </a:p>
          <a:p>
            <a:pPr>
              <a:defRPr sz="1200">
                <a:latin typeface="Noto Sans CJK SC"/>
              </a:defRPr>
            </a:pPr>
            <a:r>
              <a:t>src/yolo_vision/yolo_vision/tray_utils.py: estimate_object_position</a:t>
            </a:r>
          </a:p>
          <a:p>
            <a:pPr>
              <a:defRPr sz="1200">
                <a:latin typeface="Noto Sans CJK SC"/>
              </a:defRPr>
            </a:pPr>
            <a:r>
              <a:t>output/bowl_research_presentation_20261002/assets/detection.png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现在直接让 YOLO 在照片上涂出“哪些像素属于托盘”，这块区域叫掩膜。深度图告诉程序这些像素离相机多远，再用拍摄时刻的坐标转换，得到机器人坐标下的托盘中心和长边方向。蓝色线表示识别的外轮廓，绿色线表示实际允许放碗的内侧范围；两种尺寸都要现场测量，不能把托盘边沿也当成可用空地。</a:t>
            </a:r>
          </a:p>
          <a:p>
            <a:pPr>
              <a:defRPr sz="1200">
                <a:latin typeface="Noto Sans CJK SC"/>
              </a:defRPr>
            </a:pPr>
            <a:r>
              <a:t>图中的 u、v 像固定在托盘上的两把尺子，A 点先跟随托盘转动，再加上托盘当前位置，这就是公式的含义。这是原理示意图，不是识别结果。当前支持一只长短边明显不同的矩形薄托盘。矩形转半圈看起来一样，程序只能在相邻轮次小幅转动的前提下保持方向连续，不能区分实际掉头或换了一只同类托盘。原碗模型没有托盘类别，必须另行提供托盘分割权重；缺少模型或看不清时不猜位置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src/yolo_vision/yolo_vision/segmentation.py: TraySegmentationConfig, Segmenter</a:t>
            </a:r>
          </a:p>
          <a:p>
            <a:pPr>
              <a:defRPr sz="1200">
                <a:latin typeface="Noto Sans CJK SC"/>
              </a:defRPr>
            </a:pPr>
            <a:r>
              <a:t>src/yolo_vision/yolo_vision/tray_utils.py: detect_tray, slot_xy</a:t>
            </a:r>
          </a:p>
          <a:p>
            <a:pPr>
              <a:defRPr sz="1200">
                <a:latin typeface="Noto Sans CJK SC"/>
              </a:defRPr>
            </a:pPr>
            <a:r>
              <a:t>src/yolo_vision/config/clear_table_tray.json</a:t>
            </a:r>
          </a:p>
          <a:p>
            <a:pPr>
              <a:defRPr sz="1200">
                <a:latin typeface="Noto Sans CJK SC"/>
              </a:defRPr>
            </a:pPr>
            <a:r>
              <a:t>src/yolo_vision/models/README.md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这里判断的不是“碗中心碰到了托盘就算完成”，而是碗的保守占用范围是否完全落在托盘里。绿色碗已经完全在里面，所以不再抓它，但它占的位置要被记住。蓝色碗在托盘外，而且在允许收拾的桌面范围里，所以可以作为待抓目标。</a:t>
            </a:r>
          </a:p>
          <a:p>
            <a:pPr>
              <a:defRPr sz="1200">
                <a:latin typeface="Noto Sans CJK SC"/>
              </a:defRPr>
            </a:pPr>
            <a:r>
              <a:t>黄色碗压着托盘边界，或者深度不清楚时，就先不下结论。程序会有限次重新观察，而不是把它当成已经收好，也不是把相关区域当作空位。这里依据的是空间位置和范围，不依赖 YOLO 每一帧给碗分配的临时编号。因此下一轮碗的检测编号变了，已经在托盘里的碗也不会因为编号变化而再次被抓。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src/yolo_vision/yolo_vision/tray_utils.py: classify_object</a:t>
            </a:r>
          </a:p>
          <a:p>
            <a:pPr>
              <a:defRPr sz="1200">
                <a:latin typeface="Noto Sans CJK SC"/>
              </a:defRPr>
            </a:pPr>
            <a:r>
              <a:t>tools/place_rounds.py: ClearTableSession.observe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最简单的放置方案是在托盘里预先安排几个宽松的位置，比如 A、B、C、D，不做复杂的自动堆叠。每轮都根据托盘当前位置，重新计算这些点在哪里。</a:t>
            </a:r>
          </a:p>
          <a:p>
            <a:pPr>
              <a:defRPr sz="1200">
                <a:latin typeface="Noto Sans CJK SC"/>
              </a:defRPr>
            </a:pPr>
            <a:r>
              <a:t>选位置时有两把尺子：一是离托盘边缘够不够远，二是离已有碗够不够远。间隔要根据这次选中的碗实际有多大来算，不能所有碗都当作同样的小碗。半径就是碗宽度的一半，程序还加上误差余量。A 已经有碗，C 表示已用或保留的位置，B 是这次选中的空位。即使下一张图暂时漏掉一只刚放下的碗，也不能立刻把那里当成空的。图中 A 到 D 的状态用于解释判断规则，不是某一帧实机结果。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src/yolo_vision/yolo_vision/tray_utils.py: choose_slot</a:t>
            </a:r>
          </a:p>
          <a:p>
            <a:pPr>
              <a:defRPr sz="1200">
                <a:latin typeface="Noto Sans CJK SC"/>
              </a:defRPr>
            </a:pPr>
            <a:r>
              <a:t>tools/place_rounds.py: known_inside, used_positions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这次没有改变碗怎么夹。原程序先根据真实看到的碗沿和局部碗壁找接触位置。圆弧信息足够可靠时，用圆心指向接触点的方向来确定夹爪朝向，让同一根手指在碗外、另一根在碗内，工具保持向下。</a:t>
            </a:r>
          </a:p>
          <a:p>
            <a:pPr>
              <a:defRPr sz="1200">
                <a:latin typeface="Noto Sans CJK SC"/>
              </a:defRPr>
            </a:pPr>
            <a:r>
              <a:t>如果只是可见圆弧不够，原程序允许在已有的局部碗壁证据可靠时使用备用方法。它不是对所有识别失败都强行抓取。每只碗可能有多个候选位置，动作开始前会检查完整路径能否规划；尚未运动时可以换候选。一旦运动发生失败，不会自动再抓一次。左图是历史的抓取目标可视化，十字和坐标轴表示程序选定的位置与方向，不能仅凭这个图判断碗已被抓牢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docs/圆碗径向抓取修改_20260928.md</a:t>
            </a:r>
          </a:p>
          <a:p>
            <a:pPr>
              <a:defRPr sz="1200">
                <a:latin typeface="Noto Sans CJK SC"/>
              </a:defRPr>
            </a:pPr>
            <a:r>
              <a:t>src/rim_locator/rim_locator/rim_detection.py</a:t>
            </a:r>
          </a:p>
          <a:p>
            <a:pPr>
              <a:defRPr sz="1200">
                <a:latin typeface="Noto Sans CJK SC"/>
              </a:defRPr>
            </a:pPr>
            <a:r>
              <a:t>src/grasp_executor/grasp_executor/candidates.py</a:t>
            </a:r>
          </a:p>
          <a:p>
            <a:pPr>
              <a:defRPr sz="1200">
                <a:latin typeface="Noto Sans CJK SC"/>
              </a:defRPr>
            </a:pPr>
            <a:r>
              <a:t>output/bowl_research_presentation_20261002/assets/grasp_pose.png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原动作顺序继续使用：先到碗上方，再下降夹住、抬起、搬到放置准备点、下降释放、上退，最后回到保存的起点。一共七段，实际路径由原来的规划系统计算。图里的折线只表示动作先后，并不是机械臂真的走这样一条折线。</a:t>
            </a:r>
          </a:p>
          <a:p>
            <a:pPr>
              <a:defRPr sz="1200">
                <a:latin typeface="Noto Sans CJK SC"/>
              </a:defRPr>
            </a:pPr>
            <a:r>
              <a:t>薄托盘可以沿用原桌面释放高度，所以本次主要更换水平位置，也就是左右和前后的位置。要注意，夹爪的位置和碗最后落下的中心不一定重合，因此可以通过一次实际测量设置固定的水平偏移。这里没有针对每个抓取候选重新计算复杂的三维放置姿态。原 blue 基准的高度、方向、下降距离和返回姿态在任务开始时固定，整轮任务都沿用它们；实际落点误差仍要接设备后测量。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tools/place_rounds.py: _release_coordinates, tray_release_config</a:t>
            </a:r>
          </a:p>
          <a:p>
            <a:pPr>
              <a:defRPr sz="1200">
                <a:latin typeface="Noto Sans CJK SC"/>
              </a:defRPr>
            </a:pPr>
            <a:r>
              <a:t>src/grasp_executor/grasp_executor/grasp.py</a:t>
            </a:r>
          </a:p>
          <a:p>
            <a:pPr>
              <a:defRPr sz="1200">
                <a:latin typeface="Noto Sans CJK SC"/>
              </a:defRPr>
            </a:pPr>
            <a:r>
              <a:t>src/grasp_executor/config/place_zones.json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机器人报告“动作执行完了”，只表示控制流程走完，并不自动证明碗落到了预想的位置。所以程序把两件事分开记：第一件是动作完成，先把那个位置保留；第二件是下一张图确认归位，才增加真正确认收好的数量。</a:t>
            </a:r>
          </a:p>
          <a:p>
            <a:pPr>
              <a:defRPr sz="1200">
                <a:latin typeface="Noto Sans CJK SC"/>
              </a:defRPr>
            </a:pPr>
            <a:r>
              <a:t>核查时看三点：原来的源位置是否还留着那只碗、选中的空位附近是否出现了新的碗、托盘里原有的碗是否还能对应上。三点一起判断，比只看到托盘里“有一只碗”可靠，因为那只碗可能本来就在里面。只要上一只的结果不清楚，就有限次重新观察，不继续搬下一只。图示为了容易理解只画了一只待收碗，实际程序每轮可以观察多只，但只执行一只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tools/place_rounds.py: ClearTableSession.observe, record_motion</a:t>
            </a:r>
          </a:p>
          <a:p>
            <a:pPr>
              <a:defRPr sz="1200">
                <a:latin typeface="Noto Sans CJK SC"/>
              </a:defRPr>
            </a:pPr>
            <a:r>
              <a:t>tools/test_clear_table_policy.py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这一页不是随意画的流程，而是从本次保存的离线演示结果重新绘制的。蓝色圆表示托盘外的待收碗，绿色圆表示托盘内的碗，黄色虚线圈标出当轮选中的位置。所有图都使用同一坐标范围，所以能看出托盘在轮次间有轻微移动和转动。</a:t>
            </a:r>
          </a:p>
          <a:p>
            <a:pPr>
              <a:defRPr sz="1200">
                <a:latin typeface="Noto Sans CJK SC"/>
              </a:defRPr>
            </a:pPr>
            <a:r>
              <a:t>第一张图选 B 放第一只；第二张图先确认第一只，再选 C；第三张图确认第二只，再选 D。第四张图确认第三只已经进托盘，并第一次看到待收区域为空；第五张图再次确认空了，任务才结束。最初 A 位置已有一只碗，因此一直没有被重复使用。结果是三次抓放、三只确认归位、五次观察。这里输入图像位置和机械臂反馈都是模拟的，不能当作真实抓取成功率。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debug_output/clear_table_validation/yolo_20261010/offline_demo/result.json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debug_output/clear_table_validation/yolo_20261010/offline_demo/round_0001..0005/synthetic_observation.json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这次重点检查四类容易出错的地方。第一，原模型会识别碗，不代表会识别托盘；程序会检查托盘模型文件、类别和分割能力，不能只把名字改成 tray 就认为成功。第二，检测到托盘不代表整个托盘都看清了，还要检查边界、深度，以及完整托盘和待收区域是否都在碗检测的视野里。</a:t>
            </a:r>
          </a:p>
          <a:p>
            <a:pPr>
              <a:defRPr sz="1200">
                <a:latin typeface="Noto Sans CJK SC"/>
              </a:defRPr>
            </a:pPr>
            <a:r>
              <a:t>第三，矩形的长轴可能在相邻图像中突然反向。如果直接照用，A、B 等位置就可能对调；程序会选择与上一轮最接近的等价方向，使占用记录连续，超过 45 度的最小等价变化会拒绝。真实转半圈或替换托盘仍不支持。第四，继续按本次要搬的碗的实际大小检查空位，不能只按最小碗尺寸估计。这些检查由合成数据和模型接口测试覆盖，没有把假的检测输出说成真实模型识别成功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debug_output/clear_table_validation/yolo_20261010/summary.json</a:t>
            </a:r>
          </a:p>
          <a:p>
            <a:pPr>
              <a:defRPr sz="1200">
                <a:latin typeface="Noto Sans CJK SC"/>
              </a:defRPr>
            </a:pPr>
            <a:r>
              <a:t>src/yolo_vision/test/test_tray_models.py</a:t>
            </a:r>
          </a:p>
          <a:p>
            <a:pPr>
              <a:defRPr sz="1200">
                <a:latin typeface="Noto Sans CJK SC"/>
              </a:defRPr>
            </a:pPr>
            <a:r>
              <a:t>tools/test_clear_table_policy.py</a:t>
            </a:r>
          </a:p>
          <a:p>
            <a:pPr>
              <a:defRPr sz="1200">
                <a:latin typeface="Noto Sans CJK SC"/>
              </a:defRPr>
            </a:pPr>
            <a:r>
              <a:t>src/yolo_vision/test/test_tray_utils.py</a:t>
            </a:r>
          </a:p>
          <a:p>
            <a:pPr>
              <a:defRPr sz="1200">
                <a:latin typeface="Noto Sans CJK SC"/>
              </a:defRPr>
            </a:pPr>
            <a:r>
              <a:t>src/yolo_vision/test/test_tray_observation.py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检查分几个层次。普通逻辑测试确认空位判断、状态变化和异常处理；ROS 通信和启动检查确认模块之间的消息正确，旧数据不会串进来，退出时不会留下后台程序；最外层使用真正的 MoveIt 规划程序配合模拟关节和夹爪反馈检查动作链。</a:t>
            </a:r>
          </a:p>
          <a:p>
            <a:pPr>
              <a:defRPr sz="1200">
                <a:latin typeface="Noto Sans CJK SC"/>
              </a:defRPr>
            </a:pPr>
            <a:r>
              <a:t>本次共 881 项普通回归通过，另有 7 项控制测试在隔离的 ROS 环境里通过，合计 888 项。右侧是另外几个集成检查组，不把不同类型的数字混在一起算成功率。三个 ROS 包重新构建成功。托盘模型接口和几何测试使用合成掩膜或模拟模型，没有加载真实托盘权重来证明识别准确率。真实识别是否稳定、碗是否滑动、最终偏多少毫米，仍需现场实验。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debug_output/clear_table_validation/yolo_20261010/summary.json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debug_output/clear_table_validation/yolo_20261010/validation.log</a:t>
            </a:r>
          </a:p>
          <a:p>
            <a:pPr>
              <a:defRPr sz="1200">
                <a:latin typeface="Noto Sans CJK SC"/>
              </a:defRPr>
            </a:pPr>
            <a:r>
              <a:t>run_pipeline_place_offline_test.sh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软件检查通过后，上机还有三步。第一步准备包含托盘类别的分割权重，并测量托盘外轮廓和内侧可放区域。项目没有提供托盘模型，已有碗模型也不能直接识别托盘；需要用真实画面验证光照、位置和遮挡变化下的效果。</a:t>
            </a:r>
          </a:p>
          <a:p>
            <a:pPr>
              <a:defRPr sz="1200">
                <a:latin typeface="Noto Sans CJK SC"/>
              </a:defRPr>
            </a:pPr>
            <a:r>
              <a:t>第二步标定允许收拾的桌面区域、工具与实际碗落点的偏移，先做只规划预览，确认整个托盘和待收区域都可见，抓放与返回路径能规划。配置中 calibrated 默认是假，验证前不能直接把示例数值用于动作。第三步从一只碗开始实测落点误差，再逐渐测试多只碗。当前只支持一只长短边明显不同的矩形薄托盘；动作时保持静止，不在任务中换托盘或大幅掉头。本次没有增加桌面、托盘和碗的三维碰撞场景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New_run/README.md: 收桌面模式</a:t>
            </a:r>
          </a:p>
          <a:p>
            <a:pPr>
              <a:defRPr sz="1200">
                <a:latin typeface="Noto Sans CJK SC"/>
              </a:defRPr>
            </a:pPr>
            <a:r>
              <a:t>src/yolo_vision/config/clear_table_tray.json</a:t>
            </a:r>
          </a:p>
          <a:p>
            <a:pPr>
              <a:defRPr sz="1200">
                <a:latin typeface="Noto Sans CJK SC"/>
              </a:defRPr>
            </a:pPr>
            <a:r>
              <a:t>implement_new2.md §10–11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最后记住三句话就够了：托盘位置每次重新看；空位要按碗的大小和已有占用来选；上一只没有确认放好，就不继续搬下一只。</a:t>
            </a:r>
          </a:p>
          <a:p>
            <a:pPr>
              <a:defRPr sz="1200">
                <a:latin typeface="Noto Sans CJK SC"/>
              </a:defRPr>
            </a:pPr>
            <a:r>
              <a:t>托盘使用 YOLO 分割加深度定位，机械臂怎么夹、怎么下降释放、怎么回到起点，仍然沿用原流程。修改范围比较集中，出现问题时也容易知道是在识别、选择、执行还是核查这一步。当前有构建、自动化回归、ROS 通信和 MoveIt 模拟结果作为软件证据。下一阶段还需提供并验证实际托盘模型，连接设备测量识别稳定性和实际放置精度，不能用模拟成功代替实机测量。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implement_new2.md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这一页是给需要复查的人看的资料索引，不需要在口头报告中逐条念代码路径。设计方案解释为什么这么做，使用说明解释怎么运行，代码实现具体判断，结果目录保存本次测试日志和每轮演示数据。</a:t>
            </a:r>
          </a:p>
          <a:p>
            <a:pPr>
              <a:defRPr sz="1200">
                <a:latin typeface="Noto Sans CJK SC"/>
              </a:defRPr>
            </a:pPr>
            <a:r>
              <a:t>运行 ./run_clear_table.sh --offline-demo，可以不连接相机和机械臂重现三只碗的模拟收纳，它跳过实际模型推理。完整构建和隔离测试使用 ./run_pipeline_place_offline_test.sh。PPT 中托盘、空位和流程图是可编辑示意图；五轮演示图由保存的模拟观察数据绘制；现场照片与抓取叠加图来自以前的项目资料。任何说明图都不作为真实实验测量。实际托盘模型依赖和配置见 src/yolo_vision/models/README.md；各页详细来源保存在备注里。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README.md</a:t>
            </a:r>
          </a:p>
          <a:p>
            <a:pPr>
              <a:defRPr sz="1200">
                <a:latin typeface="Noto Sans CJK SC"/>
              </a:defRPr>
            </a:pPr>
            <a:r>
              <a:t>run_clear_table.sh</a:t>
            </a:r>
          </a:p>
          <a:p>
            <a:pPr>
              <a:defRPr sz="1200">
                <a:latin typeface="Noto Sans CJK SC"/>
              </a:defRPr>
            </a:pPr>
            <a:r>
              <a:t>run_pipeline_place_offline_test.sh</a:t>
            </a:r>
          </a:p>
          <a:p>
            <a:pPr>
              <a:defRPr sz="1200">
                <a:latin typeface="Noto Sans CJK SC"/>
              </a:defRPr>
            </a:pPr>
            <a:r>
              <a:t>output/bowl_research_presentation_20261002/asset_sources.json</a:t>
            </a:r>
          </a:p>
          <a:p>
            <a:pPr>
              <a:defRPr sz="1200">
                <a:latin typeface="Noto Sans CJK SC"/>
              </a:defRPr>
            </a:pPr>
            <a:r>
              <a:t>src/yolo_vision/models/README.md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0CEC3"/>
                </a:solidFill>
                <a:latin typeface="Lato"/>
              </a:defRPr>
            </a:pPr>
            <a:r>
              <a:t>ROBOTICS / METHOD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FFFFFF"/>
                </a:solidFill>
                <a:latin typeface="Lato"/>
              </a:defRPr>
            </a:pPr>
            <a:r>
              <a:t>Observe. Pick. Place. Repeat.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365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ADBFCA"/>
                </a:solidFill>
                <a:latin typeface="Lato"/>
              </a:defRPr>
            </a:pPr>
            <a:r>
              <a:t>Project methods report  |  10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ADBFCA"/>
                </a:solidFill>
                <a:latin typeface="Lato"/>
              </a:defRPr>
            </a:pPr>
            <a:r>
              <a:t>01</a:t>
            </a:r>
          </a:p>
        </p:txBody>
      </p:sp>
      <p:pic>
        <p:nvPicPr>
          <p:cNvPr id="7" name="Picture 6" descr="raw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984819"/>
            <a:ext cx="5806440" cy="3629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746504"/>
            <a:ext cx="5029200" cy="1508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700" b="1">
                <a:solidFill>
                  <a:srgbClr val="FFFFFF"/>
                </a:solidFill>
                <a:latin typeface="Lato"/>
              </a:defRPr>
            </a:pPr>
            <a:r>
              <a:t>Movable-Tray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3700" b="1">
                <a:solidFill>
                  <a:srgbClr val="FFFFFF"/>
                </a:solidFill>
                <a:latin typeface="Lato"/>
              </a:defRPr>
            </a:pPr>
            <a:r>
              <a:t>Table Clearing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465576"/>
            <a:ext cx="4754880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C9D9E3"/>
                </a:solidFill>
                <a:latin typeface="Lato"/>
              </a:defRPr>
            </a:pPr>
            <a:r>
              <a:t>YOLO tray segmentation around the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C9D9E3"/>
                </a:solidFill>
                <a:latin typeface="Lato"/>
              </a:defRPr>
            </a:pPr>
            <a:r>
              <a:t>existing bowl grasp-and-place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626864"/>
            <a:ext cx="411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60CEC3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590288"/>
            <a:ext cx="42976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Lato"/>
              </a:defRPr>
            </a:pPr>
            <a:r>
              <a:t>Re-localize the tray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38344"/>
            <a:ext cx="411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60CEC3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001768"/>
            <a:ext cx="42976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Lato"/>
              </a:defRPr>
            </a:pPr>
            <a:r>
              <a:t>Reuse the grasp and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449824"/>
            <a:ext cx="411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60CEC3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13248"/>
            <a:ext cx="42976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Lato"/>
              </a:defRPr>
            </a:pPr>
            <a:r>
              <a:t>Verify after every 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989320"/>
            <a:ext cx="548640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0">
                <a:solidFill>
                  <a:srgbClr val="ADBFCA"/>
                </a:solidFill>
                <a:latin typeface="Lato"/>
              </a:defRPr>
            </a:pPr>
            <a:r>
              <a:t>Historical project photograph • not the new tray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01 / TASK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Three decisions make the task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82496"/>
            <a:ext cx="5120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627785"/>
                </a:solidFill>
                <a:latin typeface="Lato"/>
              </a:defRPr>
            </a:pPr>
            <a:r>
              <a:t>CURRENT SCENE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7376" y="1682496"/>
            <a:ext cx="5120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627785"/>
                </a:solidFill>
                <a:latin typeface="Lato"/>
              </a:defRPr>
            </a:pPr>
            <a:r>
              <a:t>DESIRED SCENE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103120"/>
            <a:ext cx="507492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214" y="2691993"/>
            <a:ext cx="2182215" cy="1638604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1905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086" y="2765145"/>
            <a:ext cx="1944471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TRAY</a:t>
            </a:r>
          </a:p>
        </p:txBody>
      </p:sp>
      <p:sp>
        <p:nvSpPr>
          <p:cNvPr id="12" name="Oval 11"/>
          <p:cNvSpPr/>
          <p:nvPr/>
        </p:nvSpPr>
        <p:spPr>
          <a:xfrm>
            <a:off x="3490923" y="3120737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0923" y="3221321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4451098" y="3120737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1098" y="3221321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3490923" y="3727021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0923" y="3827605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4451098" y="3727021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1098" y="3827605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1196035" y="2677363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6035" y="2787091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1805025" y="3266236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5025" y="3375964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1196035" y="385511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6035" y="3964838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7376" y="2103120"/>
            <a:ext cx="507492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24086" y="2691993"/>
            <a:ext cx="2182215" cy="1638604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1905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2958" y="2765145"/>
            <a:ext cx="1944471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TRAY</a:t>
            </a:r>
          </a:p>
        </p:txBody>
      </p:sp>
      <p:sp>
        <p:nvSpPr>
          <p:cNvPr id="29" name="Oval 28"/>
          <p:cNvSpPr/>
          <p:nvPr/>
        </p:nvSpPr>
        <p:spPr>
          <a:xfrm>
            <a:off x="9324795" y="3120737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4795" y="3221321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31" name="Oval 30"/>
          <p:cNvSpPr/>
          <p:nvPr/>
        </p:nvSpPr>
        <p:spPr>
          <a:xfrm>
            <a:off x="10284970" y="3120737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4970" y="3221321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B</a:t>
            </a:r>
          </a:p>
        </p:txBody>
      </p:sp>
      <p:sp>
        <p:nvSpPr>
          <p:cNvPr id="33" name="Oval 32"/>
          <p:cNvSpPr/>
          <p:nvPr/>
        </p:nvSpPr>
        <p:spPr>
          <a:xfrm>
            <a:off x="9324795" y="3727021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4795" y="3827605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10284970" y="3727021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4970" y="3827605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806440" y="3355848"/>
            <a:ext cx="512064" cy="0"/>
          </a:xfrm>
          <a:prstGeom prst="line">
            <a:avLst/>
          </a:prstGeom>
          <a:ln w="38100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792" y="5047488"/>
            <a:ext cx="411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F83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5477256"/>
            <a:ext cx="3337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Where is the tray?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5925312"/>
            <a:ext cx="33649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Update its position and orientation.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5047488"/>
            <a:ext cx="411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F83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2272" y="5477256"/>
            <a:ext cx="3337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Which bowl is next?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2" y="5925312"/>
            <a:ext cx="33649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Exclude bowls already inside.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047488"/>
            <a:ext cx="411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F83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477256"/>
            <a:ext cx="3337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Where can it go?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925312"/>
            <a:ext cx="33649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Choose an unoccupied interior slot.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02 / FEEDBACK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One bowl per cycle. One fresh scene for the next decision.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11680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32304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80360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Acquire a fresh RGB-D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3984" y="1828800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011680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432304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880360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Locate the tray and all bowls.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32304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Check the previous placement.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986784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69664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590288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Choose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038344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One source bowl + one free slot.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3986784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4169664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590288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Pick &amp; 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5038344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Run the existing motion sequence.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86784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169664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590288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Return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5038344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Go back to the saved home pose.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86784" y="2587752"/>
            <a:ext cx="35661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72400" y="2587752"/>
            <a:ext cx="35661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866376" y="3456432"/>
            <a:ext cx="0" cy="402336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772400" y="4736592"/>
            <a:ext cx="35661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986784" y="4736592"/>
            <a:ext cx="35661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286000" y="3456432"/>
            <a:ext cx="0" cy="402336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67512" y="5879592"/>
            <a:ext cx="10917936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First cycle: no previous placement to verify. Final cycle: observe again before declaring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03 / MINIMAL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Add scene decisions around the existing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01952"/>
            <a:ext cx="268833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01952"/>
            <a:ext cx="2688336" cy="6858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23774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688336"/>
            <a:ext cx="23774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203949"/>
                </a:solidFill>
                <a:latin typeface="Lato"/>
              </a:defRPr>
            </a:pPr>
            <a:r>
              <a:t>YOLO + RGB-D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18688"/>
            <a:ext cx="237744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Tray mask + original bowl clouds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74136" y="2843784"/>
            <a:ext cx="118872" cy="0"/>
          </a:xfrm>
          <a:prstGeom prst="line">
            <a:avLst/>
          </a:prstGeom>
          <a:ln w="21590">
            <a:solidFill>
              <a:srgbClr val="62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529584" y="1901952"/>
            <a:ext cx="268833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9584" y="1901952"/>
            <a:ext cx="2688336" cy="68580"/>
          </a:xfrm>
          <a:prstGeom prst="rect">
            <a:avLst/>
          </a:prstGeom>
          <a:solidFill>
            <a:srgbClr val="357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2130552"/>
            <a:ext cx="23774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3579C7"/>
                </a:solidFill>
                <a:latin typeface="Lato"/>
              </a:defRPr>
            </a:pPr>
            <a:r>
              <a:t>GEOMETRY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688336"/>
            <a:ext cx="23774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203949"/>
                </a:solidFill>
                <a:latin typeface="Lato"/>
              </a:defRPr>
            </a:pPr>
            <a:r>
              <a:t>Rim locator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218688"/>
            <a:ext cx="237744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Observed grasp candidates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63640" y="2843784"/>
            <a:ext cx="118872" cy="0"/>
          </a:xfrm>
          <a:prstGeom prst="line">
            <a:avLst/>
          </a:prstGeom>
          <a:ln w="21590">
            <a:solidFill>
              <a:srgbClr val="62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19088" y="1901952"/>
            <a:ext cx="268833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19088" y="1901952"/>
            <a:ext cx="2688336" cy="6858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2130552"/>
            <a:ext cx="23774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688336"/>
            <a:ext cx="23774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203949"/>
                </a:solidFill>
                <a:latin typeface="Lato"/>
              </a:defRPr>
            </a:pPr>
            <a:r>
              <a:t>Existing runner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3218688"/>
            <a:ext cx="237744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Filter bowls; choose tray slot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53144" y="2843784"/>
            <a:ext cx="118872" cy="0"/>
          </a:xfrm>
          <a:prstGeom prst="line">
            <a:avLst/>
          </a:prstGeom>
          <a:ln w="21590">
            <a:solidFill>
              <a:srgbClr val="62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308592" y="1901952"/>
            <a:ext cx="268833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08592" y="1901952"/>
            <a:ext cx="2688336" cy="68580"/>
          </a:xfrm>
          <a:prstGeom prst="rect">
            <a:avLst/>
          </a:prstGeom>
          <a:solidFill>
            <a:srgbClr val="357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2130552"/>
            <a:ext cx="23774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3579C7"/>
                </a:solidFill>
                <a:latin typeface="Lato"/>
              </a:defRPr>
            </a:pPr>
            <a:r>
              <a:t>MOTION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688336"/>
            <a:ext cx="23774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203949"/>
                </a:solidFill>
                <a:latin typeface="Lato"/>
              </a:defRPr>
            </a:pPr>
            <a:r>
              <a:t>Grasp executor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218688"/>
            <a:ext cx="237744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Plan, execute and return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288536"/>
            <a:ext cx="10890504" cy="1188720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507992"/>
            <a:ext cx="237744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008F83"/>
                </a:solidFill>
                <a:latin typeface="Lato"/>
              </a:defRPr>
            </a:pPr>
            <a:r>
              <a:t>Small additions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544568"/>
            <a:ext cx="7836408" cy="6583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203949"/>
                </a:solidFill>
                <a:latin typeface="Lato"/>
              </a:defRPr>
            </a:pPr>
            <a:r>
              <a:t>Tray localization  •  Bowl footprints  •  Occupancy memory  •  Placement confirmation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5897880"/>
            <a:ext cx="10881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627785"/>
                </a:solidFill>
                <a:latin typeface="Lato"/>
              </a:defRPr>
            </a:pPr>
            <a:r>
              <a:t>Shared acquisition stamp + task identity keep observations and grasp candidates aligned.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04 / RGB-D PERCEPTION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Turn visible bowls into physical footprints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Historical segmentation image • footprint estimation is the new task-level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05</a:t>
            </a:r>
          </a:p>
        </p:txBody>
      </p:sp>
      <p:pic>
        <p:nvPicPr>
          <p:cNvPr id="7" name="Picture 6" descr="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740217"/>
            <a:ext cx="5989320" cy="37433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0664" y="5605272"/>
            <a:ext cx="2606040" cy="292608"/>
          </a:xfrm>
          <a:prstGeom prst="rect">
            <a:avLst/>
          </a:prstGeom>
          <a:solidFill>
            <a:srgbClr val="EA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655564"/>
            <a:ext cx="2459736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3579C7"/>
                </a:solidFill>
                <a:latin typeface="Lato"/>
              </a:defRPr>
            </a:pPr>
            <a:r>
              <a:t>HISTORICAL PROJECT 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901952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2" y="1847088"/>
            <a:ext cx="437997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RGB tells us what belongs to a bowl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76856"/>
            <a:ext cx="437997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YOLO provides the bowl mask.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200400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3145536"/>
            <a:ext cx="437997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Depth tells us where the surface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3575304"/>
            <a:ext cx="437997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Use registered depth from the same frame.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4498848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4443984"/>
            <a:ext cx="437997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Use a common coordinate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4873752"/>
            <a:ext cx="437997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Transform to base; estimate center and radius.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989320"/>
            <a:ext cx="5678424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203949"/>
                </a:solidFill>
                <a:latin typeface="Lato"/>
              </a:defRPr>
            </a:pPr>
            <a:r>
              <a:t>Bowl footprint ≠ a single rim grasp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05 / TRAY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YOLO gives the tray a movable coordinate frame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Explanatory diagram • trained tray segmentation weights are required and are not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01368"/>
            <a:ext cx="5669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9194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YOLO MASK / OUTER CONTOUR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514600"/>
            <a:ext cx="4901184" cy="2560320"/>
          </a:xfrm>
          <a:prstGeom prst="roundRect">
            <a:avLst>
              <a:gd name="adj" fmla="val 12000"/>
            </a:avLst>
          </a:prstGeom>
          <a:solidFill>
            <a:srgbClr val="EAF1F9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8448" y="2779776"/>
            <a:ext cx="4352544" cy="2029968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9616" y="2935224"/>
            <a:ext cx="27614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USABLE INTERIOR</a:t>
            </a:r>
          </a:p>
        </p:txBody>
      </p:sp>
      <p:sp>
        <p:nvSpPr>
          <p:cNvPr id="12" name="Oval 11"/>
          <p:cNvSpPr/>
          <p:nvPr/>
        </p:nvSpPr>
        <p:spPr>
          <a:xfrm>
            <a:off x="3355848" y="3712463"/>
            <a:ext cx="146304" cy="146304"/>
          </a:xfrm>
          <a:prstGeom prst="ellipse">
            <a:avLst/>
          </a:prstGeom>
          <a:solidFill>
            <a:srgbClr val="008F83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429000" y="3785615"/>
            <a:ext cx="1453896" cy="0"/>
          </a:xfrm>
          <a:prstGeom prst="line">
            <a:avLst/>
          </a:prstGeom>
          <a:ln w="30480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9000" y="3282696"/>
            <a:ext cx="0" cy="502919"/>
          </a:xfrm>
          <a:prstGeom prst="line">
            <a:avLst/>
          </a:prstGeom>
          <a:ln w="30480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65192" y="3657600"/>
            <a:ext cx="32004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008F83"/>
                </a:solidFill>
                <a:latin typeface="Lato"/>
              </a:defRPr>
            </a:pPr>
            <a:r>
              <a:t>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273552"/>
            <a:ext cx="32004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008F83"/>
                </a:solidFill>
                <a:latin typeface="Lato"/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4014215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627785"/>
                </a:solidFill>
                <a:latin typeface="Lato"/>
              </a:defRPr>
            </a:pPr>
            <a:r>
              <a:t>center</a:t>
            </a:r>
          </a:p>
        </p:txBody>
      </p:sp>
      <p:sp>
        <p:nvSpPr>
          <p:cNvPr id="18" name="Oval 17"/>
          <p:cNvSpPr/>
          <p:nvPr/>
        </p:nvSpPr>
        <p:spPr>
          <a:xfrm>
            <a:off x="4818888" y="4215384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4261104"/>
            <a:ext cx="310896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69826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330952"/>
            <a:ext cx="50292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203949"/>
                </a:solidFill>
                <a:latin typeface="Lato"/>
              </a:defRPr>
            </a:pPr>
            <a:r>
              <a:t>Depth converts pixels to base XY.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203949"/>
                </a:solidFill>
                <a:latin typeface="Lato"/>
              </a:defRPr>
            </a:pPr>
            <a:r>
              <a:t>Local slots follow the observed pose.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911095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1856231"/>
            <a:ext cx="45171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Segment the whole tray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286000"/>
            <a:ext cx="45171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Dedicated tray weights required; not included.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218688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3163824"/>
            <a:ext cx="45171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Measure center and long axis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3593591"/>
            <a:ext cx="45171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Same-frame depth + acquisition-time TF.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535424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4480560"/>
            <a:ext cx="45171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Move the slots with the tray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4910328"/>
            <a:ext cx="45171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p_slot = c_tray + R(θ) · [u, v]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06 / TARGET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A bowl is handled only when its footprint is inside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19656"/>
            <a:ext cx="5650992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2386584"/>
            <a:ext cx="2871216" cy="2962656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384" y="2569464"/>
            <a:ext cx="2441448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TRAY INTERIOR</a:t>
            </a:r>
          </a:p>
        </p:txBody>
      </p:sp>
      <p:sp>
        <p:nvSpPr>
          <p:cNvPr id="10" name="Oval 9"/>
          <p:cNvSpPr/>
          <p:nvPr/>
        </p:nvSpPr>
        <p:spPr>
          <a:xfrm>
            <a:off x="3950207" y="2980944"/>
            <a:ext cx="822960" cy="822960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207" y="3282696"/>
            <a:ext cx="8229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IN</a:t>
            </a:r>
          </a:p>
        </p:txBody>
      </p:sp>
      <p:sp>
        <p:nvSpPr>
          <p:cNvPr id="12" name="Oval 11"/>
          <p:cNvSpPr/>
          <p:nvPr/>
        </p:nvSpPr>
        <p:spPr>
          <a:xfrm>
            <a:off x="1152144" y="2825496"/>
            <a:ext cx="841248" cy="841248"/>
          </a:xfrm>
          <a:prstGeom prst="ellipse">
            <a:avLst/>
          </a:prstGeom>
          <a:solidFill>
            <a:srgbClr val="EAF1F9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3136391"/>
            <a:ext cx="8412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OUT</a:t>
            </a:r>
          </a:p>
        </p:txBody>
      </p:sp>
      <p:sp>
        <p:nvSpPr>
          <p:cNvPr id="14" name="Oval 13"/>
          <p:cNvSpPr/>
          <p:nvPr/>
        </p:nvSpPr>
        <p:spPr>
          <a:xfrm>
            <a:off x="2468880" y="4288536"/>
            <a:ext cx="859536" cy="859536"/>
          </a:xfrm>
          <a:prstGeom prst="ellipse">
            <a:avLst/>
          </a:prstGeom>
          <a:solidFill>
            <a:srgbClr val="FBF1DD"/>
          </a:solidFill>
          <a:ln w="25400">
            <a:solidFill>
              <a:srgbClr val="D69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4608576"/>
            <a:ext cx="859536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69826"/>
                </a:solidFill>
                <a:latin typeface="Lato"/>
              </a:defRPr>
            </a:pPr>
            <a: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5458968"/>
            <a:ext cx="448056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D69826"/>
                </a:solidFill>
                <a:latin typeface="Lato"/>
              </a:defRPr>
            </a:pPr>
            <a:r>
              <a:t>Boundary overlap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002536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1947672"/>
            <a:ext cx="45171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Inside → keep as occupancy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377439"/>
            <a:ext cx="45171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Do not submit this bowl for grasping.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3337560"/>
            <a:ext cx="50292" cy="256032"/>
          </a:xfrm>
          <a:prstGeom prst="rect">
            <a:avLst/>
          </a:prstGeom>
          <a:solidFill>
            <a:srgbClr val="357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282696"/>
            <a:ext cx="45171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Outside + in source region → candidate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712463"/>
            <a:ext cx="45171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Choose one using the existing ordering.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4672583"/>
            <a:ext cx="50292" cy="256032"/>
          </a:xfrm>
          <a:prstGeom prst="rect">
            <a:avLst/>
          </a:prstGeom>
          <a:solidFill>
            <a:srgbClr val="D69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4617720"/>
            <a:ext cx="45171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Uncertain → observe again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5047488"/>
            <a:ext cx="45171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Boundary overlap or unreliable depth stays unresolved.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07 / OCCUPANCY AND SLOT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Select space for the actual bowl being carried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" y="1810512"/>
            <a:ext cx="566928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6696" y="2167128"/>
            <a:ext cx="4956048" cy="3017520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3664" y="2651760"/>
            <a:ext cx="786384" cy="78638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3664" y="2935224"/>
            <a:ext cx="7863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224528" y="2651760"/>
            <a:ext cx="786384" cy="786384"/>
          </a:xfrm>
          <a:prstGeom prst="ellipse">
            <a:avLst/>
          </a:prstGeom>
          <a:solidFill>
            <a:srgbClr val="FBF1DD"/>
          </a:solidFill>
          <a:ln w="25400">
            <a:solidFill>
              <a:srgbClr val="D69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935224"/>
            <a:ext cx="7863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69826"/>
                </a:solidFill>
                <a:latin typeface="Lato"/>
              </a:defRPr>
            </a:pPr>
            <a:r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1883664" y="3995928"/>
            <a:ext cx="786384" cy="786384"/>
          </a:xfrm>
          <a:prstGeom prst="ellipse">
            <a:avLst/>
          </a:prstGeom>
          <a:solidFill>
            <a:srgbClr val="E9EEF2"/>
          </a:solidFill>
          <a:ln w="25400">
            <a:solidFill>
              <a:srgbClr val="627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83664" y="4279392"/>
            <a:ext cx="7863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627785"/>
                </a:solidFill>
                <a:latin typeface="Lato"/>
              </a:defRPr>
            </a:pPr>
            <a:r>
              <a:t>C</a:t>
            </a:r>
          </a:p>
        </p:txBody>
      </p:sp>
      <p:sp>
        <p:nvSpPr>
          <p:cNvPr id="15" name="Oval 14"/>
          <p:cNvSpPr/>
          <p:nvPr/>
        </p:nvSpPr>
        <p:spPr>
          <a:xfrm>
            <a:off x="4224528" y="399592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4279392"/>
            <a:ext cx="7863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557016"/>
            <a:ext cx="1243584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008F83"/>
                </a:solidFill>
                <a:latin typeface="Lato"/>
              </a:defRPr>
            </a:pPr>
            <a:r>
              <a:t>occupied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3557016"/>
            <a:ext cx="1243584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D69826"/>
                </a:solidFill>
                <a:latin typeface="Lato"/>
              </a:defRPr>
            </a:pPr>
            <a:r>
              <a:t>selected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4919472"/>
            <a:ext cx="1225296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627785"/>
                </a:solidFill>
                <a:latin typeface="Lato"/>
              </a:defRPr>
            </a:pPr>
            <a:r>
              <a:t>reserved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5" y="4919472"/>
            <a:ext cx="1225296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3579C7"/>
                </a:solidFill>
                <a:latin typeface="Lato"/>
              </a:defRPr>
            </a:pPr>
            <a:r>
              <a:t>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22976"/>
            <a:ext cx="52120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203949"/>
                </a:solidFill>
                <a:latin typeface="Lato"/>
              </a:defRPr>
            </a:pPr>
            <a:r>
              <a:t>Used or uncertain slots are not immediately freed.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1911095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856231"/>
            <a:ext cx="4535424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Check the tray 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286000"/>
            <a:ext cx="4535424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distance to edge ≥ bowl radius + margin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84848" y="3182112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127248"/>
            <a:ext cx="4535424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Check nearby bowls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557015"/>
            <a:ext cx="4535424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center distance &gt; both radii + clearance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4471416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416552"/>
            <a:ext cx="4535424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Keep a small occupancy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846320"/>
            <a:ext cx="4535424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Reserve used slots; refresh observed occupancy.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08 / GRASP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Reuse the existing rim-grasp method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Historical grasp-target overlay • a planned/selected pose is not proof of a successful physical grasp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09</a:t>
            </a:r>
          </a:p>
        </p:txBody>
      </p:sp>
      <p:pic>
        <p:nvPicPr>
          <p:cNvPr id="7" name="Picture 6" descr="grasp_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47646"/>
            <a:ext cx="6053328" cy="37833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8" y="5632704"/>
            <a:ext cx="2761488" cy="292608"/>
          </a:xfrm>
          <a:prstGeom prst="rect">
            <a:avLst/>
          </a:prstGeom>
          <a:solidFill>
            <a:srgbClr val="EA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5682996"/>
            <a:ext cx="2615184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3579C7"/>
                </a:solidFill>
                <a:latin typeface="Lato"/>
              </a:defRPr>
            </a:pPr>
            <a:r>
              <a:t>EXISTING GRASP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20240"/>
            <a:ext cx="50292" cy="256032"/>
          </a:xfrm>
          <a:prstGeom prst="rect">
            <a:avLst/>
          </a:prstGeom>
          <a:solidFill>
            <a:srgbClr val="357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865376"/>
            <a:ext cx="4407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Use observed rim contacts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95144"/>
            <a:ext cx="4407408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Fit reliable bowl geometry; retain measured contact points.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67728" y="3300984"/>
            <a:ext cx="50292" cy="256032"/>
          </a:xfrm>
          <a:prstGeom prst="rect">
            <a:avLst/>
          </a:prstGeom>
          <a:solidFill>
            <a:srgbClr val="357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246120"/>
            <a:ext cx="4407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Keep finger direction consistent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75887"/>
            <a:ext cx="4407408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Radial direction assigns the outside finger; tool Z points down.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4700016"/>
            <a:ext cx="50292" cy="256032"/>
          </a:xfrm>
          <a:prstGeom prst="rect">
            <a:avLst/>
          </a:prstGeom>
          <a:solidFill>
            <a:srgbClr val="357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4645152"/>
            <a:ext cx="4407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Preserve candidate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074920"/>
            <a:ext cx="4407408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Supported-wall fallback and pre-motion planning checks remain.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6025896"/>
            <a:ext cx="584301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203949"/>
                </a:solidFill>
                <a:latin typeface="Lato"/>
              </a:defRPr>
            </a:pPr>
            <a:r>
              <a:t>New task decisions do not redesign the grasp.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09 / PLACEMENT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Keep the motion sequence; update the destination XY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70432" y="2743200"/>
            <a:ext cx="1636776" cy="1115568"/>
          </a:xfrm>
          <a:prstGeom prst="line">
            <a:avLst/>
          </a:prstGeom>
          <a:ln w="29209">
            <a:solidFill>
              <a:srgbClr val="3579C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807208" y="2743200"/>
            <a:ext cx="1636776" cy="1115568"/>
          </a:xfrm>
          <a:prstGeom prst="line">
            <a:avLst/>
          </a:prstGeom>
          <a:ln w="29209">
            <a:solidFill>
              <a:srgbClr val="3579C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43984" y="2743200"/>
            <a:ext cx="163677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743200"/>
            <a:ext cx="1636776" cy="1115568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717536" y="2743200"/>
            <a:ext cx="1636775" cy="1115568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54311" y="2743200"/>
            <a:ext cx="1636777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50976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Approach</a:t>
            </a:r>
          </a:p>
        </p:txBody>
      </p:sp>
      <p:sp>
        <p:nvSpPr>
          <p:cNvPr id="16" name="Oval 15"/>
          <p:cNvSpPr/>
          <p:nvPr/>
        </p:nvSpPr>
        <p:spPr>
          <a:xfrm>
            <a:off x="2587752" y="3639311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3749039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Descend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to grasp</a:t>
            </a:r>
          </a:p>
        </p:txBody>
      </p:sp>
      <p:sp>
        <p:nvSpPr>
          <p:cNvPr id="19" name="Oval 18"/>
          <p:cNvSpPr/>
          <p:nvPr/>
        </p:nvSpPr>
        <p:spPr>
          <a:xfrm>
            <a:off x="4224528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6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Lift</a:t>
            </a:r>
          </a:p>
        </p:txBody>
      </p:sp>
      <p:sp>
        <p:nvSpPr>
          <p:cNvPr id="22" name="Oval 21"/>
          <p:cNvSpPr/>
          <p:nvPr/>
        </p:nvSpPr>
        <p:spPr>
          <a:xfrm>
            <a:off x="5861304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61304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Transfer to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pre-release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79" y="3639311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749039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Descend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and release</a:t>
            </a:r>
          </a:p>
        </p:txBody>
      </p:sp>
      <p:sp>
        <p:nvSpPr>
          <p:cNvPr id="28" name="Oval 27"/>
          <p:cNvSpPr/>
          <p:nvPr/>
        </p:nvSpPr>
        <p:spPr>
          <a:xfrm>
            <a:off x="9134855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4855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5943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Retreat</a:t>
            </a:r>
          </a:p>
        </p:txBody>
      </p:sp>
      <p:sp>
        <p:nvSpPr>
          <p:cNvPr id="31" name="Oval 30"/>
          <p:cNvSpPr/>
          <p:nvPr/>
        </p:nvSpPr>
        <p:spPr>
          <a:xfrm>
            <a:off x="10771632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71632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9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Return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home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" y="1691640"/>
            <a:ext cx="5193792" cy="292608"/>
          </a:xfrm>
          <a:prstGeom prst="rect">
            <a:avLst/>
          </a:prstGeom>
          <a:solidFill>
            <a:srgbClr val="E9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1741932"/>
            <a:ext cx="504748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7785"/>
                </a:solidFill>
                <a:latin typeface="Lato"/>
              </a:defRPr>
            </a:pPr>
            <a:r>
              <a:t>SCHEMATIC MOTION ORDER • NOT A ROBOT TRAJECTORY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2104" y="4197096"/>
            <a:ext cx="10488168" cy="0"/>
          </a:xfrm>
          <a:prstGeom prst="line">
            <a:avLst/>
          </a:prstGeom>
          <a:ln w="1651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76656" y="5522976"/>
            <a:ext cx="10863072" cy="621792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5687568"/>
            <a:ext cx="656539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tool release XY = selected slot XY + fixed offset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5824" y="5715000"/>
            <a:ext cx="356616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1">
                <a:solidFill>
                  <a:srgbClr val="008F83"/>
                </a:solidFill>
                <a:latin typeface="Lato"/>
              </a:defRPr>
            </a:pPr>
            <a:r>
              <a:t>Same Z • orientation • descent • home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10 / PLACEMENT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Confirm a changed scene before starting the next pick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984248"/>
            <a:ext cx="4837176" cy="2322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37728" y="2518440"/>
            <a:ext cx="2079985" cy="1486448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1905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6600" y="2591592"/>
            <a:ext cx="1842241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TRAY</a:t>
            </a:r>
          </a:p>
        </p:txBody>
      </p:sp>
      <p:sp>
        <p:nvSpPr>
          <p:cNvPr id="10" name="Oval 9"/>
          <p:cNvSpPr/>
          <p:nvPr/>
        </p:nvSpPr>
        <p:spPr>
          <a:xfrm>
            <a:off x="3409812" y="2887843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9812" y="2988427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4325005" y="2887843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005" y="2988427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69826"/>
                </a:solidFill>
                <a:latin typeface="Lato"/>
              </a:defRPr>
            </a:pPr>
            <a: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3409812" y="3437829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9812" y="3538413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4325005" y="3437829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005" y="3538413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D</a:t>
            </a:r>
          </a:p>
        </p:txBody>
      </p:sp>
      <p:sp>
        <p:nvSpPr>
          <p:cNvPr id="18" name="Oval 17"/>
          <p:cNvSpPr/>
          <p:nvPr/>
        </p:nvSpPr>
        <p:spPr>
          <a:xfrm>
            <a:off x="1223787" y="2486573"/>
            <a:ext cx="435345" cy="43534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3787" y="2594518"/>
            <a:ext cx="435345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4" y="1984248"/>
            <a:ext cx="4837176" cy="2322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7320" y="2518440"/>
            <a:ext cx="2079985" cy="1486448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1905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6192" y="2591592"/>
            <a:ext cx="1842241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TRAY</a:t>
            </a:r>
          </a:p>
        </p:txBody>
      </p:sp>
      <p:sp>
        <p:nvSpPr>
          <p:cNvPr id="23" name="Oval 22"/>
          <p:cNvSpPr/>
          <p:nvPr/>
        </p:nvSpPr>
        <p:spPr>
          <a:xfrm>
            <a:off x="9289404" y="2887843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9404" y="2988427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10204597" y="2887843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04597" y="2988427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9289404" y="3437829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9404" y="3538413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10204597" y="3437829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04597" y="3538413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1664208"/>
            <a:ext cx="45720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627785"/>
                </a:solidFill>
                <a:latin typeface="Lato"/>
              </a:defRPr>
            </a:pPr>
            <a:r>
              <a:t>BEFORE THE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1664208"/>
            <a:ext cx="466344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FRESH OBSERVATION AFTER RETURN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78424" y="3108960"/>
            <a:ext cx="649224" cy="0"/>
          </a:xfrm>
          <a:prstGeom prst="line">
            <a:avLst/>
          </a:prstGeom>
          <a:ln w="30480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58952" y="4700016"/>
            <a:ext cx="365760" cy="292608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3" y="4750307"/>
            <a:ext cx="219456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202936"/>
            <a:ext cx="3419856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Source bowl is gone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3712" y="4700016"/>
            <a:ext cx="365760" cy="292608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6864" y="4750307"/>
            <a:ext cx="219456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202936"/>
            <a:ext cx="3419856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New occupancy at the chosen slot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48472" y="4700016"/>
            <a:ext cx="365760" cy="292608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21624" y="4750307"/>
            <a:ext cx="219456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5202936"/>
            <a:ext cx="3419856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Previous tray occupancy remains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6071616"/>
            <a:ext cx="1088136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An action acknowledgment reserves the slot. A fresh observation confirms placement.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11 / RECORDED SOFTWARE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Three placements, five observations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Plots reconstructed from saved synthetic observations • all sensing and actuator feedback are simulated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99616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627785"/>
                </a:solidFill>
                <a:latin typeface="Lato"/>
              </a:defRPr>
            </a:pPr>
            <a:r>
              <a:t>Blue: pending bowls   •   Teal: inside tray   •   Amber ring: selected destination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1</a:t>
            </a:r>
          </a:p>
        </p:txBody>
      </p:sp>
      <p:pic>
        <p:nvPicPr>
          <p:cNvPr id="10" name="Picture 9" descr="observa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35" y="2322576"/>
            <a:ext cx="1565257" cy="1993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Pick →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2</a:t>
            </a:r>
          </a:p>
        </p:txBody>
      </p:sp>
      <p:pic>
        <p:nvPicPr>
          <p:cNvPr id="14" name="Picture 13" descr="observati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155" y="2322576"/>
            <a:ext cx="1565257" cy="1993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26664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Confirm 1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Pick →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3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3</a:t>
            </a:r>
          </a:p>
        </p:txBody>
      </p:sp>
      <p:pic>
        <p:nvPicPr>
          <p:cNvPr id="18" name="Picture 17" descr="observati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875" y="2322576"/>
            <a:ext cx="1565257" cy="1993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58383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Confirm 2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Pick →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2088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0104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4</a:t>
            </a:r>
          </a:p>
        </p:txBody>
      </p:sp>
      <p:pic>
        <p:nvPicPr>
          <p:cNvPr id="22" name="Picture 21" descr="observati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595" y="2322576"/>
            <a:ext cx="1565257" cy="19933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90104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Confirm 3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Check empty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93807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1824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5</a:t>
            </a:r>
          </a:p>
        </p:txBody>
      </p:sp>
      <p:pic>
        <p:nvPicPr>
          <p:cNvPr id="26" name="Picture 25" descr="observati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9315" y="2322576"/>
            <a:ext cx="1565257" cy="19933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21824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Confirm empty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577840"/>
            <a:ext cx="10972800" cy="566928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733288"/>
            <a:ext cx="1049731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F83"/>
                </a:solidFill>
                <a:latin typeface="Lato"/>
              </a:defRPr>
            </a:pPr>
            <a:r>
              <a:t>3 bowls confirmed   /   Slots B, C, D used   /   Existing slot A preserved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12 / DEBUGGING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Four checks protect the YOLO tray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" y="1801368"/>
            <a:ext cx="5449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1801368"/>
            <a:ext cx="59436" cy="192024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65960"/>
            <a:ext cx="365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38528"/>
            <a:ext cx="448056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Model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50109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The existing bowl model has no tray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39"/>
            <a:ext cx="50109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F83"/>
                </a:solidFill>
                <a:latin typeface="Lato"/>
              </a:defRPr>
            </a:pPr>
            <a:r>
              <a:t>Require local tray segmentation weights and the correct class.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5" y="1801368"/>
            <a:ext cx="5449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7375" y="1801368"/>
            <a:ext cx="59436" cy="192024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5" y="1965960"/>
            <a:ext cx="365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5" y="1938528"/>
            <a:ext cx="448056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Full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3" y="2487168"/>
            <a:ext cx="50109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A tray detection does not prove the whole scene is visible.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3" y="3063239"/>
            <a:ext cx="50109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F83"/>
                </a:solidFill>
                <a:latin typeface="Lato"/>
              </a:defRPr>
            </a:pPr>
            <a:r>
              <a:t>Check contour, depth and the full tray / source 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" y="3977639"/>
            <a:ext cx="5449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3977639"/>
            <a:ext cx="59436" cy="192024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142231"/>
            <a:ext cx="365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114800"/>
            <a:ext cx="448056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Axis continuity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50109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A rectangular mask can reverse its reported axis.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39512"/>
            <a:ext cx="50109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F83"/>
                </a:solidFill>
                <a:latin typeface="Lato"/>
              </a:defRPr>
            </a:pPr>
            <a:r>
              <a:t>Align equivalent axes; preserve occupied and reserved slots.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7375" y="3977639"/>
            <a:ext cx="5449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37375" y="3977639"/>
            <a:ext cx="59436" cy="192024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0255" y="4142231"/>
            <a:ext cx="365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5" y="4114800"/>
            <a:ext cx="448056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Actual bowl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3" y="4663440"/>
            <a:ext cx="50109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A fixed small-bowl assumption can select a tight slot.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3" y="5239512"/>
            <a:ext cx="50109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F83"/>
                </a:solidFill>
                <a:latin typeface="Lato"/>
              </a:defRPr>
            </a:pPr>
            <a:r>
              <a:t>Check this bowl against the edge and neighboring bowls.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13 / CHECKS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Validation covers logic, ROS contracts and motion planning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Validation run: 10 OCT 2026 • no physical camera or robot connected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819656"/>
            <a:ext cx="3255264" cy="4306824"/>
          </a:xfrm>
          <a:prstGeom prst="rect">
            <a:avLst/>
          </a:prstGeom>
          <a:solidFill>
            <a:srgbClr val="11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21992"/>
            <a:ext cx="2697480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6800" b="1">
                <a:solidFill>
                  <a:srgbClr val="FFFFFF"/>
                </a:solidFill>
                <a:latin typeface="Lato"/>
              </a:defRPr>
            </a:pPr>
            <a:r>
              <a:t>888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337560"/>
            <a:ext cx="269748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Lato"/>
              </a:defRPr>
            </a:pPr>
            <a:r>
              <a:t>automated tests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215384"/>
            <a:ext cx="2679192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B6CFDA"/>
                </a:solidFill>
                <a:latin typeface="Lato"/>
              </a:defRPr>
            </a:pPr>
            <a:r>
              <a:t>881 unit / regression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B6CFDA"/>
                </a:solidFill>
                <a:latin typeface="Lato"/>
              </a:defRPr>
            </a:pPr>
            <a:r>
              <a:t>+ 7 isolated ROS control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550408"/>
            <a:ext cx="267004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60CEC3"/>
                </a:solidFill>
                <a:latin typeface="Lato"/>
              </a:defRPr>
            </a:pPr>
            <a:r>
              <a:t>3 ROS packages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837943"/>
            <a:ext cx="85039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600" b="1">
                <a:solidFill>
                  <a:srgbClr val="008F83"/>
                </a:solidFill>
                <a:latin typeface="Lato"/>
              </a:defRPr>
            </a:pPr>
            <a: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1883663"/>
            <a:ext cx="57241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203949"/>
                </a:solidFill>
                <a:latin typeface="Lato"/>
              </a:defRPr>
            </a:pPr>
            <a:r>
              <a:t>ROS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2350008"/>
            <a:ext cx="569671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Fresh stamps, identities and retained messages.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916935"/>
            <a:ext cx="85039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600" b="1">
                <a:solidFill>
                  <a:srgbClr val="008F83"/>
                </a:solidFill>
                <a:latin typeface="Lato"/>
              </a:defRPr>
            </a:pPr>
            <a: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962655"/>
            <a:ext cx="57241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203949"/>
                </a:solidFill>
                <a:latin typeface="Lato"/>
              </a:defRPr>
            </a:pPr>
            <a:r>
              <a:t>Launch contracts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3428999"/>
            <a:ext cx="569671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Correct topics, namespaces and runtime parameters.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995927"/>
            <a:ext cx="85039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600" b="1">
                <a:solidFill>
                  <a:srgbClr val="008F83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4041647"/>
            <a:ext cx="57241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203949"/>
                </a:solidFill>
                <a:latin typeface="Lato"/>
              </a:defRPr>
            </a:pPr>
            <a:r>
              <a:t>Interruption cleanup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4507992"/>
            <a:ext cx="569671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SIGTERM / SIGHUP leave no owned workers running.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5074920"/>
            <a:ext cx="85039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600" b="1">
                <a:solidFill>
                  <a:srgbClr val="008F83"/>
                </a:solidFill>
                <a:latin typeface="Lato"/>
              </a:defRPr>
            </a:pPr>
            <a: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5120640"/>
            <a:ext cx="57241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203949"/>
                </a:solidFill>
                <a:latin typeface="Lato"/>
              </a:defRPr>
            </a:pPr>
            <a:r>
              <a:t>MoveIt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5586983"/>
            <a:ext cx="569671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Planning, candidate fallback and simulated return home.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14 / DEPLOYMENT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From software validation to hardware trials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828800"/>
            <a:ext cx="5943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F83"/>
                </a:solidFill>
                <a:latin typeface="Lato"/>
              </a:defRPr>
            </a:pPr>
            <a: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" y="2468880"/>
            <a:ext cx="3374136" cy="0"/>
          </a:xfrm>
          <a:prstGeom prst="line">
            <a:avLst/>
          </a:prstGeom>
          <a:ln w="2540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2743200"/>
            <a:ext cx="3419856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800" b="1">
                <a:solidFill>
                  <a:srgbClr val="203949"/>
                </a:solidFill>
                <a:latin typeface="Lato"/>
              </a:defRPr>
            </a:pPr>
            <a:r>
              <a:t>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520440"/>
            <a:ext cx="3401568" cy="11704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627785"/>
                </a:solidFill>
                <a:latin typeface="Lato"/>
              </a:defRPr>
            </a:pPr>
            <a:r>
              <a:t>Provide tray segmentation weights;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627785"/>
                </a:solidFill>
                <a:latin typeface="Lato"/>
              </a:defRPr>
            </a:pPr>
            <a:r>
              <a:t>measure outer / usable tray sizes.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5943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F83"/>
                </a:solidFill>
                <a:latin typeface="Lato"/>
              </a:defRPr>
            </a:pPr>
            <a: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53712" y="2468880"/>
            <a:ext cx="3374136" cy="0"/>
          </a:xfrm>
          <a:prstGeom prst="line">
            <a:avLst/>
          </a:prstGeom>
          <a:ln w="2540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53712" y="2743200"/>
            <a:ext cx="3419856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800" b="1">
                <a:solidFill>
                  <a:srgbClr val="203949"/>
                </a:solidFill>
                <a:latin typeface="Lato"/>
              </a:defRPr>
            </a:pPr>
            <a:r>
              <a:t>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520440"/>
            <a:ext cx="3401568" cy="11704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627785"/>
                </a:solidFill>
                <a:latin typeface="Lato"/>
              </a:defRPr>
            </a:pPr>
            <a:r>
              <a:t>Calibrate the source and release;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627785"/>
                </a:solidFill>
                <a:latin typeface="Lato"/>
              </a:defRPr>
            </a:pPr>
            <a:r>
              <a:t>check full visibility and the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5943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F83"/>
                </a:solidFill>
                <a:latin typeface="Lato"/>
              </a:defRPr>
            </a:pPr>
            <a: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2468880"/>
            <a:ext cx="3374135" cy="0"/>
          </a:xfrm>
          <a:prstGeom prst="line">
            <a:avLst/>
          </a:prstGeom>
          <a:ln w="2540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0" y="2743200"/>
            <a:ext cx="3419856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800" b="1">
                <a:solidFill>
                  <a:srgbClr val="203949"/>
                </a:solidFill>
                <a:latin typeface="Lato"/>
              </a:defRPr>
            </a:pPr>
            <a: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20440"/>
            <a:ext cx="3401568" cy="11704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627785"/>
                </a:solidFill>
                <a:latin typeface="Lato"/>
              </a:defRPr>
            </a:pPr>
            <a:r>
              <a:t>Test one bowl first; record actual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627785"/>
                </a:solidFill>
                <a:latin typeface="Lato"/>
              </a:defRPr>
            </a:pPr>
            <a:r>
              <a:t>placement error and repeatability.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" y="5166360"/>
            <a:ext cx="10890504" cy="950976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30952"/>
            <a:ext cx="3072384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F83"/>
                </a:solidFill>
                <a:latin typeface="Lato"/>
              </a:defRPr>
            </a:pPr>
            <a:r>
              <a:t>Operating assumptions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063" y="5330952"/>
            <a:ext cx="7324344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203949"/>
                </a:solidFill>
                <a:latin typeface="Lato"/>
              </a:defRPr>
            </a:pPr>
            <a:r>
              <a:t>One non-square rectangular tray • stationary during each action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203949"/>
                </a:solidFill>
                <a:latin typeface="Lato"/>
              </a:defRPr>
            </a:pPr>
            <a:r>
              <a:t>No abrupt half-turns or tray swaps • no new 3D collision scene.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0CEC3"/>
                </a:solidFill>
                <a:latin typeface="Lato"/>
              </a:defRPr>
            </a:pPr>
            <a:r>
              <a:t>15 /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FFFFFF"/>
                </a:solidFill>
                <a:latin typeface="Lato"/>
              </a:defRPr>
            </a:pPr>
            <a:r>
              <a:t>A simple loop with explicit evidence at every step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365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ADBFCA"/>
                </a:solidFill>
                <a:latin typeface="Lato"/>
              </a:defRPr>
            </a:pPr>
            <a:r>
              <a:t>Software and simulation validated • physical recognition and placement accuracy remain to be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ADBFCA"/>
                </a:solidFill>
                <a:latin typeface="Lato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56231"/>
            <a:ext cx="56692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60CEC3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799"/>
            <a:ext cx="959205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800" b="1">
                <a:solidFill>
                  <a:srgbClr val="FFFFFF"/>
                </a:solidFill>
                <a:latin typeface="Lato"/>
              </a:defRPr>
            </a:pPr>
            <a:r>
              <a:t>Re-localize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2423160"/>
            <a:ext cx="9537192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C5D7E0"/>
                </a:solidFill>
                <a:latin typeface="Lato"/>
              </a:defRPr>
            </a:pPr>
            <a:r>
              <a:t>Use the tray pose from the current observation.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044952"/>
            <a:ext cx="56692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60CEC3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17520"/>
            <a:ext cx="959205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800" b="1">
                <a:solidFill>
                  <a:srgbClr val="FFFFFF"/>
                </a:solidFill>
                <a:latin typeface="Lato"/>
              </a:defRPr>
            </a:pPr>
            <a:r>
              <a:t>Reserve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4" y="3611880"/>
            <a:ext cx="9537192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C5D7E0"/>
                </a:solidFill>
                <a:latin typeface="Lato"/>
              </a:defRPr>
            </a:pPr>
            <a:r>
              <a:t>Check real footprints and remember occupied slots.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233672"/>
            <a:ext cx="56692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60CEC3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06240"/>
            <a:ext cx="959205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800" b="1">
                <a:solidFill>
                  <a:srgbClr val="FFFFFF"/>
                </a:solidFill>
                <a:latin typeface="Lato"/>
              </a:defRPr>
            </a:pPr>
            <a:r>
              <a:t>Verify before continuing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344" y="4800600"/>
            <a:ext cx="9537192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C5D7E0"/>
                </a:solidFill>
                <a:latin typeface="Lato"/>
              </a:defRPr>
            </a:pPr>
            <a:r>
              <a:t>Confirm the last bowl before picking the next one.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751576"/>
            <a:ext cx="10671048" cy="0"/>
          </a:xfrm>
          <a:prstGeom prst="line">
            <a:avLst/>
          </a:prstGeom>
          <a:ln w="12700">
            <a:solidFill>
              <a:srgbClr val="365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8952" y="5961888"/>
            <a:ext cx="1051560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60CEC3"/>
                </a:solidFill>
                <a:latin typeface="Lato"/>
              </a:defRPr>
            </a:pPr>
            <a:r>
              <a:t>The original grasp and placement motion remain the execution backbone.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APPENDIX /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Evidence, assets and reproducible entry 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819656"/>
            <a:ext cx="512064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DESIGN &amp;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22576"/>
            <a:ext cx="5138928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203949"/>
                </a:solidFill>
                <a:latin typeface="Lato"/>
              </a:defRPr>
            </a:pPr>
            <a:r>
              <a:t>Minimal-change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79192"/>
            <a:ext cx="5148072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627785"/>
                </a:solidFill>
                <a:latin typeface="Lato"/>
              </a:defRPr>
            </a:pPr>
            <a:r>
              <a:t>implement_new2.md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127248"/>
            <a:ext cx="5138928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203949"/>
                </a:solidFill>
                <a:latin typeface="Lato"/>
              </a:defRPr>
            </a:pPr>
            <a:r>
              <a:t>Operational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483864"/>
            <a:ext cx="5148072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627785"/>
                </a:solidFill>
                <a:latin typeface="Lato"/>
              </a:defRPr>
            </a:pPr>
            <a:r>
              <a:t>New_run/README.md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931920"/>
            <a:ext cx="5138928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203949"/>
                </a:solidFill>
                <a:latin typeface="Lato"/>
              </a:defRPr>
            </a:pPr>
            <a:r>
              <a:t>Tray localization and 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288536"/>
            <a:ext cx="5148072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627785"/>
                </a:solidFill>
                <a:latin typeface="Lato"/>
              </a:defRPr>
            </a:pPr>
            <a:r>
              <a:t>src/yolo_vision/yolo_vision/tray_utils.py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736592"/>
            <a:ext cx="5138928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203949"/>
                </a:solidFill>
                <a:latin typeface="Lato"/>
              </a:defRPr>
            </a:pPr>
            <a:r>
              <a:t>Round decisions and placement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093207"/>
            <a:ext cx="5148072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627785"/>
                </a:solidFill>
                <a:latin typeface="Lato"/>
              </a:defRPr>
            </a:pPr>
            <a:r>
              <a:t>tools/place_rounds.py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19656"/>
            <a:ext cx="50749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RECORDED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40864"/>
            <a:ext cx="498348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Validation summary, test log and offline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90672"/>
            <a:ext cx="4992624" cy="7680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627785"/>
                </a:solidFill>
                <a:latin typeface="Lato"/>
              </a:defRPr>
            </a:pPr>
            <a:r>
              <a:t>debug_output/clear_table_validation/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627785"/>
                </a:solidFill>
                <a:latin typeface="Lato"/>
              </a:defRPr>
            </a:pPr>
            <a:r>
              <a:t>yolo_20261010/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87952"/>
            <a:ext cx="49743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203949"/>
                </a:solidFill>
                <a:latin typeface="Lato"/>
              </a:defRPr>
            </a:pPr>
            <a:r>
              <a:t>Historical photographs and overlays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26864"/>
            <a:ext cx="5010912" cy="6583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Reused from the project’s earlier presentation assets;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all are labeled as historical in this deck.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" y="5596128"/>
            <a:ext cx="10890504" cy="557784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751576"/>
            <a:ext cx="1049731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008F83"/>
                </a:solidFill>
                <a:latin typeface="Lato"/>
              </a:defRPr>
            </a:pPr>
            <a:r>
              <a:t>Offline demo: ./run_clear_table.sh --offline-demo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Movable-Tray Table Clearing — Methods and Validation</dc:title>
  <dc:subject>English slides with accessible Chinese speaker notes</dc:subject>
  <dc:creator>Robot Grasp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